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946B"/>
    <a:srgbClr val="37C346"/>
    <a:srgbClr val="1414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CC74BD-DB6E-4E11-90EF-9888652CBDCF}" v="6" dt="2026-07-10T09:53:05.0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54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s Brozeit" userId="70dc0585-5142-4664-82b4-085809466c42" providerId="ADAL" clId="{5DB38A9B-11C1-4883-98F1-109328D591AE}"/>
    <pc:docChg chg="undo custSel modSld">
      <pc:chgData name="Jonas Brozeit" userId="70dc0585-5142-4664-82b4-085809466c42" providerId="ADAL" clId="{5DB38A9B-11C1-4883-98F1-109328D591AE}" dt="2026-07-10T09:52:54.076" v="137" actId="790"/>
      <pc:docMkLst>
        <pc:docMk/>
      </pc:docMkLst>
      <pc:sldChg chg="addSp modSp mod">
        <pc:chgData name="Jonas Brozeit" userId="70dc0585-5142-4664-82b4-085809466c42" providerId="ADAL" clId="{5DB38A9B-11C1-4883-98F1-109328D591AE}" dt="2026-07-10T09:52:54.076" v="137" actId="790"/>
        <pc:sldMkLst>
          <pc:docMk/>
          <pc:sldMk cId="0" sldId="256"/>
        </pc:sldMkLst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56"/>
            <ac:spMk id="2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56"/>
            <ac:spMk id="3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56"/>
            <ac:spMk id="4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56"/>
            <ac:spMk id="5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56"/>
            <ac:spMk id="6" creationId="{00000000-0000-0000-0000-000000000000}"/>
          </ac:spMkLst>
        </pc:spChg>
        <pc:picChg chg="add mod">
          <ac:chgData name="Jonas Brozeit" userId="70dc0585-5142-4664-82b4-085809466c42" providerId="ADAL" clId="{5DB38A9B-11C1-4883-98F1-109328D591AE}" dt="2026-07-10T09:14:12.496" v="61"/>
          <ac:picMkLst>
            <pc:docMk/>
            <pc:sldMk cId="0" sldId="256"/>
            <ac:picMk id="7" creationId="{8E0F44F2-B05E-63CF-4E88-C177A62F9939}"/>
          </ac:picMkLst>
        </pc:picChg>
      </pc:sldChg>
      <pc:sldChg chg="modSp mod">
        <pc:chgData name="Jonas Brozeit" userId="70dc0585-5142-4664-82b4-085809466c42" providerId="ADAL" clId="{5DB38A9B-11C1-4883-98F1-109328D591AE}" dt="2026-07-10T09:52:54.076" v="137" actId="790"/>
        <pc:sldMkLst>
          <pc:docMk/>
          <pc:sldMk cId="0" sldId="257"/>
        </pc:sldMkLst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57"/>
            <ac:spMk id="2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57"/>
            <ac:spMk id="3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57"/>
            <ac:spMk id="4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57"/>
            <ac:spMk id="7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57"/>
            <ac:spMk id="8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57"/>
            <ac:spMk id="9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57"/>
            <ac:spMk id="10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57"/>
            <ac:spMk id="11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57"/>
            <ac:spMk id="14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57"/>
            <ac:spMk id="15" creationId="{00000000-0000-0000-0000-000000000000}"/>
          </ac:spMkLst>
        </pc:spChg>
      </pc:sldChg>
      <pc:sldChg chg="modSp mod">
        <pc:chgData name="Jonas Brozeit" userId="70dc0585-5142-4664-82b4-085809466c42" providerId="ADAL" clId="{5DB38A9B-11C1-4883-98F1-109328D591AE}" dt="2026-07-10T09:52:54.076" v="137" actId="790"/>
        <pc:sldMkLst>
          <pc:docMk/>
          <pc:sldMk cId="0" sldId="258"/>
        </pc:sldMkLst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58"/>
            <ac:spMk id="2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58"/>
            <ac:spMk id="3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58"/>
            <ac:spMk id="6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58"/>
            <ac:spMk id="7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58"/>
            <ac:spMk id="8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58"/>
            <ac:spMk id="12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58"/>
            <ac:spMk id="17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58"/>
            <ac:spMk id="21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58"/>
            <ac:spMk id="22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58"/>
            <ac:spMk id="24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09:59.485" v="7" actId="6549"/>
          <ac:spMkLst>
            <pc:docMk/>
            <pc:sldMk cId="0" sldId="258"/>
            <ac:spMk id="31" creationId="{00000000-0000-0000-0000-000000000000}"/>
          </ac:spMkLst>
        </pc:spChg>
      </pc:sldChg>
      <pc:sldChg chg="modSp mod">
        <pc:chgData name="Jonas Brozeit" userId="70dc0585-5142-4664-82b4-085809466c42" providerId="ADAL" clId="{5DB38A9B-11C1-4883-98F1-109328D591AE}" dt="2026-07-10T09:52:54.076" v="137" actId="790"/>
        <pc:sldMkLst>
          <pc:docMk/>
          <pc:sldMk cId="0" sldId="259"/>
        </pc:sldMkLst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59"/>
            <ac:spMk id="2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59"/>
            <ac:spMk id="3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59"/>
            <ac:spMk id="4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59"/>
            <ac:spMk id="5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59"/>
            <ac:spMk id="6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59"/>
            <ac:spMk id="7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59"/>
            <ac:spMk id="8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59"/>
            <ac:spMk id="9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59"/>
            <ac:spMk id="10" creationId="{00000000-0000-0000-0000-000000000000}"/>
          </ac:spMkLst>
        </pc:spChg>
      </pc:sldChg>
      <pc:sldChg chg="modSp mod">
        <pc:chgData name="Jonas Brozeit" userId="70dc0585-5142-4664-82b4-085809466c42" providerId="ADAL" clId="{5DB38A9B-11C1-4883-98F1-109328D591AE}" dt="2026-07-10T09:52:54.076" v="137" actId="790"/>
        <pc:sldMkLst>
          <pc:docMk/>
          <pc:sldMk cId="0" sldId="260"/>
        </pc:sldMkLst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0"/>
            <ac:spMk id="2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0"/>
            <ac:spMk id="3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10:23.215" v="9" actId="6549"/>
          <ac:spMkLst>
            <pc:docMk/>
            <pc:sldMk cId="0" sldId="260"/>
            <ac:spMk id="4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0"/>
            <ac:spMk id="6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0"/>
            <ac:spMk id="7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0"/>
            <ac:spMk id="8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0"/>
            <ac:spMk id="9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0"/>
            <ac:spMk id="10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0"/>
            <ac:spMk id="11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0"/>
            <ac:spMk id="12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0"/>
            <ac:spMk id="13" creationId="{00000000-0000-0000-0000-000000000000}"/>
          </ac:spMkLst>
        </pc:spChg>
      </pc:sldChg>
      <pc:sldChg chg="addSp delSp modSp mod">
        <pc:chgData name="Jonas Brozeit" userId="70dc0585-5142-4664-82b4-085809466c42" providerId="ADAL" clId="{5DB38A9B-11C1-4883-98F1-109328D591AE}" dt="2026-07-10T09:52:54.076" v="137" actId="790"/>
        <pc:sldMkLst>
          <pc:docMk/>
          <pc:sldMk cId="0" sldId="261"/>
        </pc:sldMkLst>
        <pc:spChg chg="mod">
          <ac:chgData name="Jonas Brozeit" userId="70dc0585-5142-4664-82b4-085809466c42" providerId="ADAL" clId="{5DB38A9B-11C1-4883-98F1-109328D591AE}" dt="2026-07-10T09:12:26.653" v="20" actId="1076"/>
          <ac:spMkLst>
            <pc:docMk/>
            <pc:sldMk cId="0" sldId="261"/>
            <ac:spMk id="4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1"/>
            <ac:spMk id="6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1"/>
            <ac:spMk id="10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1"/>
            <ac:spMk id="12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1"/>
            <ac:spMk id="15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1"/>
            <ac:spMk id="16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1"/>
            <ac:spMk id="19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1"/>
            <ac:spMk id="22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1"/>
            <ac:spMk id="23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1"/>
            <ac:spMk id="29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1"/>
            <ac:spMk id="30" creationId="{00000000-0000-0000-0000-000000000000}"/>
          </ac:spMkLst>
        </pc:spChg>
        <pc:spChg chg="add del mod">
          <ac:chgData name="Jonas Brozeit" userId="70dc0585-5142-4664-82b4-085809466c42" providerId="ADAL" clId="{5DB38A9B-11C1-4883-98F1-109328D591AE}" dt="2026-07-10T09:12:22.380" v="17"/>
          <ac:spMkLst>
            <pc:docMk/>
            <pc:sldMk cId="0" sldId="261"/>
            <ac:spMk id="33" creationId="{CC4B3A70-647A-F52C-C17E-86CD30F3F197}"/>
          </ac:spMkLst>
        </pc:spChg>
        <pc:spChg chg="add mod">
          <ac:chgData name="Jonas Brozeit" userId="70dc0585-5142-4664-82b4-085809466c42" providerId="ADAL" clId="{5DB38A9B-11C1-4883-98F1-109328D591AE}" dt="2026-07-10T09:13:06.030" v="57" actId="113"/>
          <ac:spMkLst>
            <pc:docMk/>
            <pc:sldMk cId="0" sldId="261"/>
            <ac:spMk id="35" creationId="{E0AE67D2-64C6-93FD-A720-7A860653FCAE}"/>
          </ac:spMkLst>
        </pc:spChg>
      </pc:sldChg>
      <pc:sldChg chg="modSp mod">
        <pc:chgData name="Jonas Brozeit" userId="70dc0585-5142-4664-82b4-085809466c42" providerId="ADAL" clId="{5DB38A9B-11C1-4883-98F1-109328D591AE}" dt="2026-07-10T09:52:54.076" v="137" actId="790"/>
        <pc:sldMkLst>
          <pc:docMk/>
          <pc:sldMk cId="0" sldId="262"/>
        </pc:sldMkLst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2"/>
            <ac:spMk id="2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2"/>
            <ac:spMk id="3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2"/>
            <ac:spMk id="4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2"/>
            <ac:spMk id="6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2"/>
            <ac:spMk id="7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2"/>
            <ac:spMk id="8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2"/>
            <ac:spMk id="9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2"/>
            <ac:spMk id="11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2"/>
            <ac:spMk id="13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2"/>
            <ac:spMk id="14" creationId="{00000000-0000-0000-0000-000000000000}"/>
          </ac:spMkLst>
        </pc:spChg>
      </pc:sldChg>
      <pc:sldChg chg="modSp mod">
        <pc:chgData name="Jonas Brozeit" userId="70dc0585-5142-4664-82b4-085809466c42" providerId="ADAL" clId="{5DB38A9B-11C1-4883-98F1-109328D591AE}" dt="2026-07-10T09:52:54.076" v="137" actId="790"/>
        <pc:sldMkLst>
          <pc:docMk/>
          <pc:sldMk cId="0" sldId="263"/>
        </pc:sldMkLst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3"/>
            <ac:spMk id="2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3"/>
            <ac:spMk id="3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3"/>
            <ac:spMk id="4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3"/>
            <ac:spMk id="5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3"/>
            <ac:spMk id="6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3"/>
            <ac:spMk id="7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3"/>
            <ac:spMk id="8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3"/>
            <ac:spMk id="9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3"/>
            <ac:spMk id="10" creationId="{00000000-0000-0000-0000-000000000000}"/>
          </ac:spMkLst>
        </pc:spChg>
      </pc:sldChg>
      <pc:sldChg chg="modSp mod">
        <pc:chgData name="Jonas Brozeit" userId="70dc0585-5142-4664-82b4-085809466c42" providerId="ADAL" clId="{5DB38A9B-11C1-4883-98F1-109328D591AE}" dt="2026-07-10T09:52:54.076" v="137" actId="790"/>
        <pc:sldMkLst>
          <pc:docMk/>
          <pc:sldMk cId="0" sldId="264"/>
        </pc:sldMkLst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4"/>
            <ac:spMk id="2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4"/>
            <ac:spMk id="4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4"/>
            <ac:spMk id="5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4"/>
            <ac:spMk id="6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4"/>
            <ac:spMk id="7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4"/>
            <ac:spMk id="8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4"/>
            <ac:spMk id="10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4"/>
            <ac:spMk id="12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4"/>
            <ac:spMk id="14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4"/>
            <ac:spMk id="17" creationId="{00000000-0000-0000-0000-000000000000}"/>
          </ac:spMkLst>
        </pc:spChg>
      </pc:sldChg>
      <pc:sldChg chg="modSp mod">
        <pc:chgData name="Jonas Brozeit" userId="70dc0585-5142-4664-82b4-085809466c42" providerId="ADAL" clId="{5DB38A9B-11C1-4883-98F1-109328D591AE}" dt="2026-07-10T09:52:54.076" v="137" actId="790"/>
        <pc:sldMkLst>
          <pc:docMk/>
          <pc:sldMk cId="0" sldId="265"/>
        </pc:sldMkLst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5"/>
            <ac:spMk id="4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5"/>
            <ac:spMk id="7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5"/>
            <ac:spMk id="8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5"/>
            <ac:spMk id="9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5"/>
            <ac:spMk id="10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5"/>
            <ac:spMk id="11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5"/>
            <ac:spMk id="12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5"/>
            <ac:spMk id="13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5"/>
            <ac:spMk id="14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5"/>
            <ac:spMk id="15" creationId="{00000000-0000-0000-0000-000000000000}"/>
          </ac:spMkLst>
        </pc:spChg>
      </pc:sldChg>
      <pc:sldChg chg="modSp mod">
        <pc:chgData name="Jonas Brozeit" userId="70dc0585-5142-4664-82b4-085809466c42" providerId="ADAL" clId="{5DB38A9B-11C1-4883-98F1-109328D591AE}" dt="2026-07-10T09:52:54.076" v="137" actId="790"/>
        <pc:sldMkLst>
          <pc:docMk/>
          <pc:sldMk cId="0" sldId="266"/>
        </pc:sldMkLst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6"/>
            <ac:spMk id="3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6"/>
            <ac:spMk id="4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6"/>
            <ac:spMk id="5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6"/>
            <ac:spMk id="6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6"/>
            <ac:spMk id="8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6"/>
            <ac:spMk id="9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6"/>
            <ac:spMk id="10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6"/>
            <ac:spMk id="11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6"/>
            <ac:spMk id="19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6"/>
            <ac:spMk id="25" creationId="{00000000-0000-0000-0000-000000000000}"/>
          </ac:spMkLst>
        </pc:spChg>
      </pc:sldChg>
      <pc:sldChg chg="addSp modSp mod">
        <pc:chgData name="Jonas Brozeit" userId="70dc0585-5142-4664-82b4-085809466c42" providerId="ADAL" clId="{5DB38A9B-11C1-4883-98F1-109328D591AE}" dt="2026-07-10T09:52:54.076" v="137" actId="790"/>
        <pc:sldMkLst>
          <pc:docMk/>
          <pc:sldMk cId="0" sldId="267"/>
        </pc:sldMkLst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7"/>
            <ac:spMk id="2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7"/>
            <ac:spMk id="3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7"/>
            <ac:spMk id="4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7"/>
            <ac:spMk id="5" creationId="{00000000-0000-0000-0000-000000000000}"/>
          </ac:spMkLst>
        </pc:spChg>
        <pc:spChg chg="mod">
          <ac:chgData name="Jonas Brozeit" userId="70dc0585-5142-4664-82b4-085809466c42" providerId="ADAL" clId="{5DB38A9B-11C1-4883-98F1-109328D591AE}" dt="2026-07-10T09:52:54.076" v="137" actId="790"/>
          <ac:spMkLst>
            <pc:docMk/>
            <pc:sldMk cId="0" sldId="267"/>
            <ac:spMk id="6" creationId="{00000000-0000-0000-0000-000000000000}"/>
          </ac:spMkLst>
        </pc:spChg>
        <pc:picChg chg="add">
          <ac:chgData name="Jonas Brozeit" userId="70dc0585-5142-4664-82b4-085809466c42" providerId="ADAL" clId="{5DB38A9B-11C1-4883-98F1-109328D591AE}" dt="2026-07-10T09:13:48.961" v="58" actId="22"/>
          <ac:picMkLst>
            <pc:docMk/>
            <pc:sldMk cId="0" sldId="267"/>
            <ac:picMk id="8" creationId="{970C322B-12BF-47EF-B7C1-4ED0C7D3C3A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1003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6946B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500" b="1" kern="0" spc="200" noProof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GREEN-AI HUB MITTELSTAND  ·  SYSTEM 180  ·  DFKI</a:t>
            </a:r>
            <a:endParaRPr lang="de-DE" sz="1500" noProof="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4400" b="1" noProof="0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KI-Modelle selbst weiter trainieren</a:t>
            </a:r>
            <a:endParaRPr lang="de-DE" sz="4400" noProof="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900" noProof="0" dirty="0">
                <a:solidFill>
                  <a:srgbClr val="F4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Bilder sammeln · annotieren mit Roboflow oder Label Studio · in Colab trainieren</a:t>
            </a:r>
            <a:endParaRPr lang="de-DE" sz="1900" noProof="0" dirty="0"/>
          </a:p>
        </p:txBody>
      </p:sp>
      <p:sp>
        <p:nvSpPr>
          <p:cNvPr id="6" name="Text 4"/>
          <p:cNvSpPr/>
          <p:nvPr/>
        </p:nvSpPr>
        <p:spPr>
          <a:xfrm>
            <a:off x="640080" y="5852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400" i="1" noProof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Schulungsunterlage · SUSPEKT-Projekt · Version 2</a:t>
            </a:r>
            <a:endParaRPr lang="de-DE" sz="1400" noProof="0" dirty="0"/>
          </a:p>
        </p:txBody>
      </p:sp>
      <p:pic>
        <p:nvPicPr>
          <p:cNvPr id="7" name="Grafik 6" descr="Green-AI Hub Mittelstand">
            <a:extLst>
              <a:ext uri="{FF2B5EF4-FFF2-40B4-BE49-F238E27FC236}">
                <a16:creationId xmlns:a16="http://schemas.microsoft.com/office/drawing/2014/main" id="{8E0F44F2-B05E-63CF-4E88-C177A62F99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33648" y="288490"/>
            <a:ext cx="2788024" cy="8677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300" b="1" kern="0" spc="200" noProof="0" dirty="0">
                <a:solidFill>
                  <a:srgbClr val="6E9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WORUM ES GEHT</a:t>
            </a:r>
            <a:endParaRPr lang="de-DE" sz="13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2900" b="1" noProof="0" dirty="0">
                <a:solidFill>
                  <a:srgbClr val="1E2B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Warum überhaupt weiter trainieren?</a:t>
            </a:r>
            <a:endParaRPr lang="de-DE" sz="29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2400" b="1" noProof="0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de-DE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1325880" y="178308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900" b="1" noProof="0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Das Modell lernt aus Beispielen.</a:t>
            </a:r>
            <a:endParaRPr lang="de-DE" sz="1900" noProof="0" dirty="0"/>
          </a:p>
        </p:txBody>
      </p:sp>
      <p:sp>
        <p:nvSpPr>
          <p:cNvPr id="7" name="Text 5"/>
          <p:cNvSpPr/>
          <p:nvPr/>
        </p:nvSpPr>
        <p:spPr>
          <a:xfrm>
            <a:off x="1325880" y="221284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500" noProof="0" dirty="0">
                <a:solidFill>
                  <a:srgbClr val="5A6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mehr echte Bilder aus dem Betrieb es kennt, desto zuverlässiger erkennt es Bauteile, Kratzer und Dellen.</a:t>
            </a:r>
            <a:endParaRPr lang="de-DE" sz="1500" noProof="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2400" b="1" noProof="0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de-DE" sz="2400" noProof="0" dirty="0"/>
          </a:p>
        </p:txBody>
      </p:sp>
      <p:sp>
        <p:nvSpPr>
          <p:cNvPr id="10" name="Text 8"/>
          <p:cNvSpPr/>
          <p:nvPr/>
        </p:nvSpPr>
        <p:spPr>
          <a:xfrm>
            <a:off x="1325880" y="320040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900" b="1" noProof="0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Die Realität ändert sich.</a:t>
            </a:r>
            <a:endParaRPr lang="de-DE" sz="1900" noProof="0" dirty="0"/>
          </a:p>
        </p:txBody>
      </p:sp>
      <p:sp>
        <p:nvSpPr>
          <p:cNvPr id="11" name="Text 9"/>
          <p:cNvSpPr/>
          <p:nvPr/>
        </p:nvSpPr>
        <p:spPr>
          <a:xfrm>
            <a:off x="1325880" y="363016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500" noProof="0" dirty="0">
                <a:solidFill>
                  <a:srgbClr val="5A6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 Bauteile, andere Beschichtungen oder Lichtverhältnisse sieht das alte Modell zum ersten Mal – dann hilft Nachtraining.</a:t>
            </a:r>
            <a:endParaRPr lang="de-DE" sz="1500" noProof="0" dirty="0"/>
          </a:p>
        </p:txBody>
      </p:sp>
      <p:sp>
        <p:nvSpPr>
          <p:cNvPr id="12" name="Shape 10"/>
          <p:cNvSpPr/>
          <p:nvPr/>
        </p:nvSpPr>
        <p:spPr>
          <a:xfrm>
            <a:off x="640080" y="466344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13" name="Text 11"/>
          <p:cNvSpPr/>
          <p:nvPr/>
        </p:nvSpPr>
        <p:spPr>
          <a:xfrm>
            <a:off x="640080" y="4663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2400" b="1" noProof="0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de-DE" sz="2400" noProof="0" dirty="0"/>
          </a:p>
        </p:txBody>
      </p:sp>
      <p:sp>
        <p:nvSpPr>
          <p:cNvPr id="14" name="Text 12"/>
          <p:cNvSpPr/>
          <p:nvPr/>
        </p:nvSpPr>
        <p:spPr>
          <a:xfrm>
            <a:off x="1325880" y="461772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900" b="1" noProof="0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Ihr sammelt die Daten selbst.</a:t>
            </a:r>
            <a:endParaRPr lang="de-DE" sz="1900" noProof="0" dirty="0"/>
          </a:p>
        </p:txBody>
      </p:sp>
      <p:sp>
        <p:nvSpPr>
          <p:cNvPr id="15" name="Text 13"/>
          <p:cNvSpPr/>
          <p:nvPr/>
        </p:nvSpPr>
        <p:spPr>
          <a:xfrm>
            <a:off x="1325880" y="504748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500" noProof="0" dirty="0">
                <a:solidFill>
                  <a:srgbClr val="5A6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Demonstrator nimmt per Knopfdruck neue Trainingsbilder auf – annotiert wird danach mit Roboflow oder Label Studio.</a:t>
            </a:r>
            <a:endParaRPr lang="de-DE" sz="15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300" b="1" kern="0" spc="200" noProof="0" dirty="0">
                <a:solidFill>
                  <a:srgbClr val="6E9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GROSSE BILD</a:t>
            </a:r>
            <a:endParaRPr lang="de-DE" sz="13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2900" b="1" noProof="0" dirty="0">
                <a:solidFill>
                  <a:srgbClr val="1E2B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Der Kreislauf in vier Schritten</a:t>
            </a:r>
            <a:endParaRPr lang="de-DE" sz="2900" noProof="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blurRad="76200" dist="25400" dir="5400000" algn="bl" rotWithShape="0">
              <a:srgbClr val="BBBBBB">
                <a:alpha val="40000"/>
              </a:srgbClr>
            </a:outerShdw>
          </a:effectLst>
        </p:spPr>
        <p:txBody>
          <a:bodyPr/>
          <a:lstStyle/>
          <a:p>
            <a:endParaRPr lang="de-DE" noProof="0" dirty="0"/>
          </a:p>
        </p:txBody>
      </p:sp>
      <p:sp>
        <p:nvSpPr>
          <p:cNvPr id="5" name="Shape 3"/>
          <p:cNvSpPr/>
          <p:nvPr/>
        </p:nvSpPr>
        <p:spPr>
          <a:xfrm>
            <a:off x="1623060" y="251460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6" name="Text 4"/>
          <p:cNvSpPr/>
          <p:nvPr/>
        </p:nvSpPr>
        <p:spPr>
          <a:xfrm>
            <a:off x="1623060" y="2514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2600" b="1" noProof="0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de-DE" sz="260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32461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1800" b="1" noProof="0" dirty="0">
                <a:solidFill>
                  <a:srgbClr val="1E2B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Sammeln</a:t>
            </a:r>
            <a:endParaRPr lang="de-DE" sz="1800" noProof="0" dirty="0"/>
          </a:p>
        </p:txBody>
      </p:sp>
      <p:sp>
        <p:nvSpPr>
          <p:cNvPr id="8" name="Text 6"/>
          <p:cNvSpPr/>
          <p:nvPr/>
        </p:nvSpPr>
        <p:spPr>
          <a:xfrm>
            <a:off x="777240" y="36118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1250" b="1" noProof="0" dirty="0">
                <a:solidFill>
                  <a:srgbClr val="6E9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Demonstrator, Webapp oder separate aufgenommene Bilder</a:t>
            </a:r>
            <a:endParaRPr lang="de-DE" sz="1250" noProof="0" dirty="0"/>
          </a:p>
        </p:txBody>
      </p:sp>
      <p:sp>
        <p:nvSpPr>
          <p:cNvPr id="9" name="Text 7"/>
          <p:cNvSpPr/>
          <p:nvPr/>
        </p:nvSpPr>
        <p:spPr>
          <a:xfrm>
            <a:off x="777240" y="41148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1200" noProof="0" dirty="0">
                <a:solidFill>
                  <a:srgbClr val="5A6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Bilder per Knopf-</a:t>
            </a:r>
            <a:endParaRPr lang="de-DE" sz="1200" noProof="0" dirty="0"/>
          </a:p>
          <a:p>
            <a:pPr marL="0" indent="0" algn="ctr">
              <a:buNone/>
            </a:pPr>
            <a:r>
              <a:rPr lang="de-DE" sz="1200" noProof="0" dirty="0">
                <a:solidFill>
                  <a:srgbClr val="5A6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druck aufnehmen</a:t>
            </a:r>
            <a:endParaRPr lang="de-DE" sz="1200" noProof="0" dirty="0"/>
          </a:p>
        </p:txBody>
      </p:sp>
      <p:sp>
        <p:nvSpPr>
          <p:cNvPr id="10" name="Text 8"/>
          <p:cNvSpPr/>
          <p:nvPr/>
        </p:nvSpPr>
        <p:spPr>
          <a:xfrm>
            <a:off x="3182112" y="3108960"/>
            <a:ext cx="2926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2600" b="1" noProof="0" dirty="0">
                <a:solidFill>
                  <a:srgbClr val="6E9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de-DE" sz="2600" noProof="0" dirty="0"/>
          </a:p>
        </p:txBody>
      </p:sp>
      <p:sp>
        <p:nvSpPr>
          <p:cNvPr id="11" name="Shape 9"/>
          <p:cNvSpPr/>
          <p:nvPr/>
        </p:nvSpPr>
        <p:spPr>
          <a:xfrm>
            <a:off x="3456432" y="2286000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blurRad="76200" dist="25400" dir="5400000" algn="bl" rotWithShape="0">
              <a:srgbClr val="BBBBBB">
                <a:alpha val="40000"/>
              </a:srgbClr>
            </a:outerShdw>
          </a:effectLst>
        </p:spPr>
        <p:txBody>
          <a:bodyPr/>
          <a:lstStyle/>
          <a:p>
            <a:endParaRPr lang="de-DE" noProof="0" dirty="0"/>
          </a:p>
        </p:txBody>
      </p:sp>
      <p:sp>
        <p:nvSpPr>
          <p:cNvPr id="12" name="Shape 10"/>
          <p:cNvSpPr/>
          <p:nvPr/>
        </p:nvSpPr>
        <p:spPr>
          <a:xfrm>
            <a:off x="4393692" y="251460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13" name="Text 11"/>
          <p:cNvSpPr/>
          <p:nvPr/>
        </p:nvSpPr>
        <p:spPr>
          <a:xfrm>
            <a:off x="4393692" y="2514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2600" b="1" noProof="0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de-DE" sz="2600" noProof="0" dirty="0"/>
          </a:p>
        </p:txBody>
      </p:sp>
      <p:sp>
        <p:nvSpPr>
          <p:cNvPr id="14" name="Text 12"/>
          <p:cNvSpPr/>
          <p:nvPr/>
        </p:nvSpPr>
        <p:spPr>
          <a:xfrm>
            <a:off x="3547872" y="32461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1800" b="1" noProof="0" dirty="0">
                <a:solidFill>
                  <a:srgbClr val="1E2B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Annotieren</a:t>
            </a:r>
            <a:endParaRPr lang="de-DE" sz="1800" noProof="0" dirty="0"/>
          </a:p>
        </p:txBody>
      </p:sp>
      <p:sp>
        <p:nvSpPr>
          <p:cNvPr id="15" name="Text 13"/>
          <p:cNvSpPr/>
          <p:nvPr/>
        </p:nvSpPr>
        <p:spPr>
          <a:xfrm>
            <a:off x="3547872" y="36118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1250" b="1" noProof="0" dirty="0">
                <a:solidFill>
                  <a:srgbClr val="6E9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Roboflow ODER</a:t>
            </a:r>
            <a:endParaRPr lang="de-DE" sz="1250" noProof="0" dirty="0"/>
          </a:p>
          <a:p>
            <a:pPr marL="0" indent="0" algn="ctr">
              <a:buNone/>
            </a:pPr>
            <a:r>
              <a:rPr lang="de-DE" sz="1250" b="1" noProof="0" dirty="0">
                <a:solidFill>
                  <a:srgbClr val="6E9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Studio</a:t>
            </a:r>
            <a:endParaRPr lang="de-DE" sz="1250" noProof="0" dirty="0"/>
          </a:p>
        </p:txBody>
      </p:sp>
      <p:sp>
        <p:nvSpPr>
          <p:cNvPr id="16" name="Text 14"/>
          <p:cNvSpPr/>
          <p:nvPr/>
        </p:nvSpPr>
        <p:spPr>
          <a:xfrm>
            <a:off x="3547872" y="41148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1200" noProof="0" dirty="0">
                <a:solidFill>
                  <a:srgbClr val="5A6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Bauteile im Bild</a:t>
            </a:r>
            <a:endParaRPr lang="de-DE" sz="1200" noProof="0" dirty="0"/>
          </a:p>
          <a:p>
            <a:pPr marL="0" indent="0" algn="ctr">
              <a:buNone/>
            </a:pPr>
            <a:r>
              <a:rPr lang="de-DE" sz="1200" noProof="0" dirty="0">
                <a:solidFill>
                  <a:srgbClr val="5A6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markieren</a:t>
            </a:r>
            <a:endParaRPr lang="de-DE" sz="1200" noProof="0" dirty="0"/>
          </a:p>
        </p:txBody>
      </p:sp>
      <p:sp>
        <p:nvSpPr>
          <p:cNvPr id="17" name="Text 15"/>
          <p:cNvSpPr/>
          <p:nvPr/>
        </p:nvSpPr>
        <p:spPr>
          <a:xfrm>
            <a:off x="5952744" y="3108960"/>
            <a:ext cx="2926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2600" b="1" noProof="0" dirty="0">
                <a:solidFill>
                  <a:srgbClr val="6E9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de-DE" sz="2600" noProof="0" dirty="0"/>
          </a:p>
        </p:txBody>
      </p:sp>
      <p:sp>
        <p:nvSpPr>
          <p:cNvPr id="18" name="Shape 16"/>
          <p:cNvSpPr/>
          <p:nvPr/>
        </p:nvSpPr>
        <p:spPr>
          <a:xfrm>
            <a:off x="6227064" y="2286000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blurRad="76200" dist="25400" dir="5400000" algn="bl" rotWithShape="0">
              <a:srgbClr val="BBBBBB">
                <a:alpha val="40000"/>
              </a:srgbClr>
            </a:outerShdw>
          </a:effectLst>
        </p:spPr>
        <p:txBody>
          <a:bodyPr/>
          <a:lstStyle/>
          <a:p>
            <a:endParaRPr lang="de-DE" noProof="0" dirty="0"/>
          </a:p>
        </p:txBody>
      </p:sp>
      <p:sp>
        <p:nvSpPr>
          <p:cNvPr id="19" name="Shape 17"/>
          <p:cNvSpPr/>
          <p:nvPr/>
        </p:nvSpPr>
        <p:spPr>
          <a:xfrm>
            <a:off x="7164324" y="251460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20" name="Text 18"/>
          <p:cNvSpPr/>
          <p:nvPr/>
        </p:nvSpPr>
        <p:spPr>
          <a:xfrm>
            <a:off x="7164324" y="2514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2600" b="1" noProof="0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de-DE" sz="2600" noProof="0" dirty="0"/>
          </a:p>
        </p:txBody>
      </p:sp>
      <p:sp>
        <p:nvSpPr>
          <p:cNvPr id="21" name="Text 19"/>
          <p:cNvSpPr/>
          <p:nvPr/>
        </p:nvSpPr>
        <p:spPr>
          <a:xfrm>
            <a:off x="6318504" y="32461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1800" b="1" noProof="0" dirty="0">
                <a:solidFill>
                  <a:srgbClr val="1E2B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Trainieren</a:t>
            </a:r>
            <a:endParaRPr lang="de-DE" sz="1800" noProof="0" dirty="0"/>
          </a:p>
        </p:txBody>
      </p:sp>
      <p:sp>
        <p:nvSpPr>
          <p:cNvPr id="22" name="Text 20"/>
          <p:cNvSpPr/>
          <p:nvPr/>
        </p:nvSpPr>
        <p:spPr>
          <a:xfrm>
            <a:off x="6318504" y="36118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1250" b="1" noProof="0" dirty="0">
                <a:solidFill>
                  <a:srgbClr val="6E9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de-DE" sz="1250" noProof="0" dirty="0"/>
          </a:p>
        </p:txBody>
      </p:sp>
      <p:sp>
        <p:nvSpPr>
          <p:cNvPr id="23" name="Text 21"/>
          <p:cNvSpPr/>
          <p:nvPr/>
        </p:nvSpPr>
        <p:spPr>
          <a:xfrm>
            <a:off x="6318504" y="41148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1200" noProof="0" dirty="0">
                <a:solidFill>
                  <a:srgbClr val="5A6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 auf Gratis-</a:t>
            </a:r>
            <a:endParaRPr lang="de-DE" sz="1200" noProof="0" dirty="0"/>
          </a:p>
          <a:p>
            <a:pPr marL="0" indent="0" algn="ctr">
              <a:buNone/>
            </a:pPr>
            <a:r>
              <a:rPr lang="de-DE" sz="1200" noProof="0" dirty="0">
                <a:solidFill>
                  <a:srgbClr val="5A6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nachtrainieren</a:t>
            </a:r>
            <a:endParaRPr lang="de-DE" sz="1200" noProof="0" dirty="0"/>
          </a:p>
        </p:txBody>
      </p:sp>
      <p:sp>
        <p:nvSpPr>
          <p:cNvPr id="24" name="Text 22"/>
          <p:cNvSpPr/>
          <p:nvPr/>
        </p:nvSpPr>
        <p:spPr>
          <a:xfrm>
            <a:off x="8723376" y="3108960"/>
            <a:ext cx="2926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2600" b="1" noProof="0" dirty="0">
                <a:solidFill>
                  <a:srgbClr val="6E9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de-DE" sz="2600" noProof="0" dirty="0"/>
          </a:p>
        </p:txBody>
      </p:sp>
      <p:sp>
        <p:nvSpPr>
          <p:cNvPr id="25" name="Shape 23"/>
          <p:cNvSpPr/>
          <p:nvPr/>
        </p:nvSpPr>
        <p:spPr>
          <a:xfrm>
            <a:off x="8997696" y="2286000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blurRad="76200" dist="25400" dir="5400000" algn="bl" rotWithShape="0">
              <a:srgbClr val="BBBBBB">
                <a:alpha val="40000"/>
              </a:srgbClr>
            </a:outerShdw>
          </a:effectLst>
        </p:spPr>
        <p:txBody>
          <a:bodyPr/>
          <a:lstStyle/>
          <a:p>
            <a:endParaRPr lang="de-DE" noProof="0" dirty="0"/>
          </a:p>
        </p:txBody>
      </p:sp>
      <p:sp>
        <p:nvSpPr>
          <p:cNvPr id="26" name="Shape 24"/>
          <p:cNvSpPr/>
          <p:nvPr/>
        </p:nvSpPr>
        <p:spPr>
          <a:xfrm>
            <a:off x="9934956" y="251460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27" name="Text 25"/>
          <p:cNvSpPr/>
          <p:nvPr/>
        </p:nvSpPr>
        <p:spPr>
          <a:xfrm>
            <a:off x="9934956" y="2514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2600" b="1" noProof="0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de-DE" sz="2600" noProof="0" dirty="0"/>
          </a:p>
        </p:txBody>
      </p:sp>
      <p:sp>
        <p:nvSpPr>
          <p:cNvPr id="28" name="Text 26"/>
          <p:cNvSpPr/>
          <p:nvPr/>
        </p:nvSpPr>
        <p:spPr>
          <a:xfrm>
            <a:off x="9089136" y="32461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1800" b="1" noProof="0" dirty="0">
                <a:solidFill>
                  <a:srgbClr val="1E2B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Einsetzen</a:t>
            </a:r>
            <a:endParaRPr lang="de-DE" sz="1800" noProof="0" dirty="0"/>
          </a:p>
        </p:txBody>
      </p:sp>
      <p:sp>
        <p:nvSpPr>
          <p:cNvPr id="29" name="Text 27"/>
          <p:cNvSpPr/>
          <p:nvPr/>
        </p:nvSpPr>
        <p:spPr>
          <a:xfrm>
            <a:off x="9089136" y="36118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1250" b="1" noProof="0" dirty="0">
                <a:solidFill>
                  <a:srgbClr val="6E9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Demonstrator</a:t>
            </a:r>
            <a:endParaRPr lang="de-DE" sz="1250" noProof="0" dirty="0"/>
          </a:p>
        </p:txBody>
      </p:sp>
      <p:sp>
        <p:nvSpPr>
          <p:cNvPr id="30" name="Text 28"/>
          <p:cNvSpPr/>
          <p:nvPr/>
        </p:nvSpPr>
        <p:spPr>
          <a:xfrm>
            <a:off x="9089136" y="41148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1200" noProof="0" dirty="0">
                <a:solidFill>
                  <a:srgbClr val="5A6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Neues Modell</a:t>
            </a:r>
            <a:endParaRPr lang="de-DE" sz="1200" noProof="0" dirty="0"/>
          </a:p>
          <a:p>
            <a:pPr marL="0" indent="0" algn="ctr">
              <a:buNone/>
            </a:pPr>
            <a:r>
              <a:rPr lang="de-DE" sz="1200" noProof="0" dirty="0">
                <a:solidFill>
                  <a:srgbClr val="5A6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zurückspielen</a:t>
            </a:r>
            <a:endParaRPr lang="de-DE" sz="1200" noProof="0" dirty="0"/>
          </a:p>
        </p:txBody>
      </p:sp>
      <p:sp>
        <p:nvSpPr>
          <p:cNvPr id="31" name="Text 29"/>
          <p:cNvSpPr/>
          <p:nvPr/>
        </p:nvSpPr>
        <p:spPr>
          <a:xfrm>
            <a:off x="685800" y="50292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1500" i="1" noProof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2 – Annotieren – geht wahlweise mit Roboflow oder mit Label Studio. Beide liefern denselben YOLO-Datensatz.</a:t>
            </a:r>
            <a:endParaRPr lang="de-DE" sz="15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300" b="1" kern="0" spc="200" noProof="0" dirty="0">
                <a:solidFill>
                  <a:srgbClr val="6E9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1</a:t>
            </a:r>
            <a:endParaRPr lang="de-DE" sz="13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2900" b="1" noProof="0" dirty="0">
                <a:solidFill>
                  <a:srgbClr val="1E2B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Bilder sammeln – per Knopfdruck</a:t>
            </a:r>
            <a:endParaRPr lang="de-DE" sz="2900" noProof="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4937760" cy="4297680"/>
          </a:xfrm>
          <a:prstGeom prst="roundRect">
            <a:avLst>
              <a:gd name="adj" fmla="val 2128"/>
            </a:avLst>
          </a:prstGeom>
          <a:solidFill>
            <a:srgbClr val="F4F6F0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5" name="Text 3"/>
          <p:cNvSpPr/>
          <p:nvPr/>
        </p:nvSpPr>
        <p:spPr>
          <a:xfrm>
            <a:off x="960120" y="19659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800" b="1" noProof="0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Was passiert?</a:t>
            </a:r>
            <a:endParaRPr lang="de-DE" sz="1800" noProof="0" dirty="0"/>
          </a:p>
        </p:txBody>
      </p:sp>
      <p:sp>
        <p:nvSpPr>
          <p:cNvPr id="6" name="Text 4"/>
          <p:cNvSpPr/>
          <p:nvPr/>
        </p:nvSpPr>
        <p:spPr>
          <a:xfrm>
            <a:off x="1005840" y="2377440"/>
            <a:ext cx="43891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de-DE" sz="1450" noProof="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Button im Demonstrator speichert gleichzeitig ein Bild aller drei Kameras.</a:t>
            </a:r>
            <a:endParaRPr lang="de-DE" sz="1450" noProof="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de-DE" sz="1450" noProof="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Draufsicht + linke + rechte Seitenansicht landen zusammen in einem Ordner.</a:t>
            </a:r>
            <a:endParaRPr lang="de-DE" sz="1450" noProof="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de-DE" sz="1450" noProof="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 gespeichert: Zeitstempel, Kamera-Zuordnung und eine kurze Notiz.</a:t>
            </a:r>
            <a:endParaRPr lang="de-DE" sz="1450" noProof="0" dirty="0"/>
          </a:p>
        </p:txBody>
      </p:sp>
      <p:sp>
        <p:nvSpPr>
          <p:cNvPr id="7" name="Shape 5"/>
          <p:cNvSpPr/>
          <p:nvPr/>
        </p:nvSpPr>
        <p:spPr>
          <a:xfrm>
            <a:off x="5943600" y="1737360"/>
            <a:ext cx="5532120" cy="4297680"/>
          </a:xfrm>
          <a:prstGeom prst="roundRect">
            <a:avLst>
              <a:gd name="adj" fmla="val 2128"/>
            </a:avLst>
          </a:prstGeom>
          <a:solidFill>
            <a:srgbClr val="1E2B1E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8" name="Text 6"/>
          <p:cNvSpPr/>
          <p:nvPr/>
        </p:nvSpPr>
        <p:spPr>
          <a:xfrm>
            <a:off x="6217920" y="19659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600" b="1" noProof="0" dirty="0">
                <a:solidFill>
                  <a:srgbClr val="97BC6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Ordner pro Aufnahme</a:t>
            </a:r>
            <a:endParaRPr lang="de-DE" sz="1600" noProof="0" dirty="0"/>
          </a:p>
        </p:txBody>
      </p:sp>
      <p:sp>
        <p:nvSpPr>
          <p:cNvPr id="9" name="Text 7"/>
          <p:cNvSpPr/>
          <p:nvPr/>
        </p:nvSpPr>
        <p:spPr>
          <a:xfrm>
            <a:off x="6217920" y="242316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de-DE" sz="1500" noProof="0" dirty="0" err="1">
                <a:solidFill>
                  <a:srgbClr val="F4F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</a:t>
            </a:r>
            <a:r>
              <a:rPr lang="de-DE" sz="1500" noProof="0" dirty="0">
                <a:solidFill>
                  <a:srgbClr val="F4F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de-DE" sz="1500" noProof="0" dirty="0"/>
          </a:p>
          <a:p>
            <a:pPr marL="0" indent="0">
              <a:lnSpc>
                <a:spcPct val="125000"/>
              </a:lnSpc>
              <a:buNone/>
            </a:pPr>
            <a:r>
              <a:rPr lang="de-DE" sz="1500" noProof="0" dirty="0">
                <a:solidFill>
                  <a:srgbClr val="F4F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2026-07-08_14-30-</a:t>
            </a:r>
            <a:r>
              <a:rPr lang="de-DE" sz="1500" noProof="0" dirty="0" err="1">
                <a:solidFill>
                  <a:srgbClr val="F4F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05_a1b2</a:t>
            </a:r>
            <a:r>
              <a:rPr lang="de-DE" sz="1500" noProof="0" dirty="0">
                <a:solidFill>
                  <a:srgbClr val="F4F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de-DE" sz="1500" noProof="0" dirty="0"/>
          </a:p>
          <a:p>
            <a:pPr marL="0" indent="0">
              <a:lnSpc>
                <a:spcPct val="125000"/>
              </a:lnSpc>
              <a:buNone/>
            </a:pPr>
            <a:r>
              <a:rPr lang="de-DE" sz="1500" noProof="0" dirty="0">
                <a:solidFill>
                  <a:srgbClr val="F4F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de-DE" sz="1500" noProof="0" dirty="0" err="1">
                <a:solidFill>
                  <a:srgbClr val="F4F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top.jpg</a:t>
            </a:r>
            <a:endParaRPr lang="de-DE" sz="1500" noProof="0" dirty="0"/>
          </a:p>
          <a:p>
            <a:pPr marL="0" indent="0">
              <a:lnSpc>
                <a:spcPct val="125000"/>
              </a:lnSpc>
              <a:buNone/>
            </a:pPr>
            <a:r>
              <a:rPr lang="de-DE" sz="1500" noProof="0" dirty="0">
                <a:solidFill>
                  <a:srgbClr val="F4F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de-DE" sz="1500" noProof="0" dirty="0" err="1">
                <a:solidFill>
                  <a:srgbClr val="F4F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left.jpg</a:t>
            </a:r>
            <a:endParaRPr lang="de-DE" sz="1500" noProof="0" dirty="0"/>
          </a:p>
          <a:p>
            <a:pPr marL="0" indent="0">
              <a:lnSpc>
                <a:spcPct val="125000"/>
              </a:lnSpc>
              <a:buNone/>
            </a:pPr>
            <a:r>
              <a:rPr lang="de-DE" sz="1500" noProof="0" dirty="0">
                <a:solidFill>
                  <a:srgbClr val="F4F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de-DE" sz="1500" noProof="0" dirty="0" err="1">
                <a:solidFill>
                  <a:srgbClr val="F4F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right.jpg</a:t>
            </a:r>
            <a:endParaRPr lang="de-DE" sz="1500" noProof="0" dirty="0"/>
          </a:p>
          <a:p>
            <a:pPr marL="0" indent="0">
              <a:lnSpc>
                <a:spcPct val="125000"/>
              </a:lnSpc>
              <a:buNone/>
            </a:pPr>
            <a:r>
              <a:rPr lang="de-DE" sz="1500" noProof="0" dirty="0">
                <a:solidFill>
                  <a:srgbClr val="F4F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de-DE" sz="1500" noProof="0" dirty="0" err="1">
                <a:solidFill>
                  <a:srgbClr val="F4F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meta.json</a:t>
            </a:r>
            <a:endParaRPr lang="de-DE" sz="1500" noProof="0" dirty="0"/>
          </a:p>
        </p:txBody>
      </p:sp>
      <p:sp>
        <p:nvSpPr>
          <p:cNvPr id="10" name="Text 8"/>
          <p:cNvSpPr/>
          <p:nvPr/>
        </p:nvSpPr>
        <p:spPr>
          <a:xfrm>
            <a:off x="6217920" y="48920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de-DE" sz="1350" i="1" noProof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Rohbilder sind für beide Annotationswege gleich – Roboflow wie Label Studio.</a:t>
            </a:r>
            <a:endParaRPr lang="de-DE" sz="135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300" b="1" kern="0" spc="200" noProof="0" dirty="0">
                <a:solidFill>
                  <a:srgbClr val="6E9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2</a:t>
            </a:r>
            <a:endParaRPr lang="de-DE" sz="13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2900" b="1" noProof="0" dirty="0">
                <a:solidFill>
                  <a:srgbClr val="1E2B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Annotieren – was heißt das?</a:t>
            </a:r>
            <a:endParaRPr lang="de-DE" sz="29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600" noProof="0" dirty="0">
                <a:solidFill>
                  <a:srgbClr val="5A6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Annotieren bedeutet: dem Modell auf jedem Bild zeigen, wo welches Bauteil ist mit einem Rechteck (</a:t>
            </a:r>
            <a:r>
              <a:rPr lang="de-DE" sz="1600" noProof="0" dirty="0" err="1">
                <a:solidFill>
                  <a:srgbClr val="5A6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</a:t>
            </a:r>
            <a:r>
              <a:rPr lang="de-DE" sz="1600" noProof="0" dirty="0">
                <a:solidFill>
                  <a:srgbClr val="5A6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Box) und dem passenden Namen (Klasse). Das geht mit zwei Werkzeugen.</a:t>
            </a:r>
            <a:endParaRPr lang="de-DE" sz="1600" noProof="0" dirty="0"/>
          </a:p>
        </p:txBody>
      </p:sp>
      <p:sp>
        <p:nvSpPr>
          <p:cNvPr id="5" name="Shape 3"/>
          <p:cNvSpPr/>
          <p:nvPr/>
        </p:nvSpPr>
        <p:spPr>
          <a:xfrm>
            <a:off x="685800" y="2606040"/>
            <a:ext cx="5212080" cy="2377440"/>
          </a:xfrm>
          <a:prstGeom prst="roundRect">
            <a:avLst>
              <a:gd name="adj" fmla="val 3846"/>
            </a:avLst>
          </a:prstGeom>
          <a:solidFill>
            <a:srgbClr val="F4F6F0"/>
          </a:solidFill>
          <a:ln w="19050">
            <a:solidFill>
              <a:srgbClr val="6E9B45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6" name="Shape 4"/>
          <p:cNvSpPr/>
          <p:nvPr/>
        </p:nvSpPr>
        <p:spPr>
          <a:xfrm>
            <a:off x="685800" y="2606040"/>
            <a:ext cx="5212080" cy="685800"/>
          </a:xfrm>
          <a:prstGeom prst="roundRect">
            <a:avLst>
              <a:gd name="adj" fmla="val 13333"/>
            </a:avLst>
          </a:prstGeom>
          <a:solidFill>
            <a:srgbClr val="6E9B45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7" name="Text 5"/>
          <p:cNvSpPr/>
          <p:nvPr/>
        </p:nvSpPr>
        <p:spPr>
          <a:xfrm>
            <a:off x="685800" y="260604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2200" b="1" noProof="0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Roboflow</a:t>
            </a:r>
            <a:endParaRPr lang="de-DE" sz="2200" noProof="0" dirty="0"/>
          </a:p>
        </p:txBody>
      </p:sp>
      <p:sp>
        <p:nvSpPr>
          <p:cNvPr id="8" name="Text 6"/>
          <p:cNvSpPr/>
          <p:nvPr/>
        </p:nvSpPr>
        <p:spPr>
          <a:xfrm>
            <a:off x="1051560" y="3429000"/>
            <a:ext cx="4480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de-DE" sz="1500" noProof="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Cloud-Dienst · sehr einfach · teils kostenpflichtig</a:t>
            </a:r>
            <a:endParaRPr lang="de-DE" sz="1500" noProof="0" dirty="0"/>
          </a:p>
        </p:txBody>
      </p:sp>
      <p:sp>
        <p:nvSpPr>
          <p:cNvPr id="9" name="Shape 7"/>
          <p:cNvSpPr/>
          <p:nvPr/>
        </p:nvSpPr>
        <p:spPr>
          <a:xfrm>
            <a:off x="6309360" y="2606040"/>
            <a:ext cx="5212080" cy="2377440"/>
          </a:xfrm>
          <a:prstGeom prst="roundRect">
            <a:avLst>
              <a:gd name="adj" fmla="val 3846"/>
            </a:avLst>
          </a:prstGeom>
          <a:solidFill>
            <a:srgbClr val="F4F6F0"/>
          </a:solidFill>
          <a:ln w="190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10" name="Shape 8"/>
          <p:cNvSpPr/>
          <p:nvPr/>
        </p:nvSpPr>
        <p:spPr>
          <a:xfrm>
            <a:off x="6309360" y="2606040"/>
            <a:ext cx="5212080" cy="685800"/>
          </a:xfrm>
          <a:prstGeom prst="roundRect">
            <a:avLst>
              <a:gd name="adj" fmla="val 13333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11" name="Text 9"/>
          <p:cNvSpPr/>
          <p:nvPr/>
        </p:nvSpPr>
        <p:spPr>
          <a:xfrm>
            <a:off x="6309360" y="260604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2200" b="1" noProof="0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Label Studio</a:t>
            </a:r>
            <a:endParaRPr lang="de-DE" sz="2200" noProof="0" dirty="0"/>
          </a:p>
        </p:txBody>
      </p:sp>
      <p:sp>
        <p:nvSpPr>
          <p:cNvPr id="12" name="Text 10"/>
          <p:cNvSpPr/>
          <p:nvPr/>
        </p:nvSpPr>
        <p:spPr>
          <a:xfrm>
            <a:off x="6675120" y="3429000"/>
            <a:ext cx="4480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de-DE" sz="1500" noProof="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· kostenlos · bereits in SUSPEKT integriert</a:t>
            </a:r>
            <a:endParaRPr lang="de-DE" sz="1500" noProof="0" dirty="0"/>
          </a:p>
        </p:txBody>
      </p:sp>
      <p:sp>
        <p:nvSpPr>
          <p:cNvPr id="13" name="Text 11"/>
          <p:cNvSpPr/>
          <p:nvPr/>
        </p:nvSpPr>
        <p:spPr>
          <a:xfrm>
            <a:off x="685800" y="52578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1400" i="1" noProof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exportieren den Datensatz im YOLO-Format. Für das Training in Colab (Schritt 3) macht es danach keinen Unterschied mehr.</a:t>
            </a:r>
            <a:endParaRPr lang="de-DE" sz="14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300" b="1" kern="0" spc="200" noProof="0" dirty="0">
                <a:solidFill>
                  <a:srgbClr val="6E9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ENTSCHEIDUNGSHILFE</a:t>
            </a:r>
            <a:endParaRPr lang="de-DE" sz="13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2900" b="1" noProof="0" dirty="0">
                <a:solidFill>
                  <a:srgbClr val="1E2B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Roboflow und Label Studio im Vergleich</a:t>
            </a:r>
            <a:endParaRPr lang="de-DE" sz="29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0352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9050">
            <a:solidFill>
              <a:srgbClr val="6E9B45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303520" cy="640080"/>
          </a:xfrm>
          <a:prstGeom prst="roundRect">
            <a:avLst>
              <a:gd name="adj" fmla="val 14286"/>
            </a:avLst>
          </a:prstGeom>
          <a:solidFill>
            <a:srgbClr val="6E9B45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2100" b="1" noProof="0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Roboflow</a:t>
            </a:r>
            <a:endParaRPr lang="de-DE" sz="21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300" i="1" noProof="0" dirty="0">
                <a:solidFill>
                  <a:srgbClr val="5A6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Cloud-Dienst</a:t>
            </a:r>
            <a:endParaRPr lang="de-DE" sz="1300" noProof="0" dirty="0"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1600" b="1" noProof="0" dirty="0">
                <a:solidFill>
                  <a:srgbClr val="6E9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de-DE" sz="1600" noProof="0" dirty="0"/>
          </a:p>
        </p:txBody>
      </p:sp>
      <p:sp>
        <p:nvSpPr>
          <p:cNvPr id="9" name="Text 7"/>
          <p:cNvSpPr/>
          <p:nvPr/>
        </p:nvSpPr>
        <p:spPr>
          <a:xfrm>
            <a:off x="1161288" y="2697480"/>
            <a:ext cx="45537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de-DE" sz="1250" noProof="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Sehr einfache, moderne Bedienung – schnell startklar</a:t>
            </a:r>
            <a:endParaRPr lang="de-DE" sz="1250" noProof="0" dirty="0"/>
          </a:p>
        </p:txBody>
      </p:sp>
      <p:sp>
        <p:nvSpPr>
          <p:cNvPr id="10" name="Text 8"/>
          <p:cNvSpPr/>
          <p:nvPr/>
        </p:nvSpPr>
        <p:spPr>
          <a:xfrm>
            <a:off x="868680" y="326440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1600" b="1" noProof="0" dirty="0">
                <a:solidFill>
                  <a:srgbClr val="6E9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de-DE" sz="1600" noProof="0" dirty="0"/>
          </a:p>
        </p:txBody>
      </p:sp>
      <p:sp>
        <p:nvSpPr>
          <p:cNvPr id="11" name="Text 9"/>
          <p:cNvSpPr/>
          <p:nvPr/>
        </p:nvSpPr>
        <p:spPr>
          <a:xfrm>
            <a:off x="1161288" y="3264408"/>
            <a:ext cx="45537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de-DE" sz="1250" noProof="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Auto-Label (KI-Vorschläge), Augmentation, Versionen eingebaut</a:t>
            </a:r>
            <a:endParaRPr lang="de-DE" sz="1250" noProof="0" dirty="0"/>
          </a:p>
        </p:txBody>
      </p:sp>
      <p:sp>
        <p:nvSpPr>
          <p:cNvPr id="12" name="Text 10"/>
          <p:cNvSpPr/>
          <p:nvPr/>
        </p:nvSpPr>
        <p:spPr>
          <a:xfrm>
            <a:off x="868680" y="383133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1600" b="1" noProof="0" dirty="0">
                <a:solidFill>
                  <a:srgbClr val="6E9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de-DE" sz="1600" noProof="0" dirty="0"/>
          </a:p>
        </p:txBody>
      </p:sp>
      <p:sp>
        <p:nvSpPr>
          <p:cNvPr id="13" name="Text 11"/>
          <p:cNvSpPr/>
          <p:nvPr/>
        </p:nvSpPr>
        <p:spPr>
          <a:xfrm>
            <a:off x="1161288" y="3831336"/>
            <a:ext cx="45537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de-DE" sz="1250" noProof="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Nichts installieren, Team-Zusammenarbeit in der Cloud</a:t>
            </a:r>
            <a:endParaRPr lang="de-DE" sz="1250" noProof="0" dirty="0"/>
          </a:p>
        </p:txBody>
      </p:sp>
      <p:sp>
        <p:nvSpPr>
          <p:cNvPr id="14" name="Text 12"/>
          <p:cNvSpPr/>
          <p:nvPr/>
        </p:nvSpPr>
        <p:spPr>
          <a:xfrm>
            <a:off x="868680" y="439826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1600" b="1" noProof="0" dirty="0">
                <a:solidFill>
                  <a:srgbClr val="9C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de-DE" sz="1600" noProof="0" dirty="0"/>
          </a:p>
        </p:txBody>
      </p:sp>
      <p:sp>
        <p:nvSpPr>
          <p:cNvPr id="15" name="Text 13"/>
          <p:cNvSpPr/>
          <p:nvPr/>
        </p:nvSpPr>
        <p:spPr>
          <a:xfrm>
            <a:off x="1161288" y="4398264"/>
            <a:ext cx="45537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de-DE" sz="1250" noProof="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größerem Umfang kostenpflichtig (Free-Tier begrenzt)</a:t>
            </a:r>
            <a:endParaRPr lang="de-DE" sz="1250" noProof="0" dirty="0"/>
          </a:p>
        </p:txBody>
      </p:sp>
      <p:sp>
        <p:nvSpPr>
          <p:cNvPr id="16" name="Text 14"/>
          <p:cNvSpPr/>
          <p:nvPr/>
        </p:nvSpPr>
        <p:spPr>
          <a:xfrm>
            <a:off x="868680" y="496519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1600" b="1" noProof="0" dirty="0">
                <a:solidFill>
                  <a:srgbClr val="9C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de-DE" sz="1600" noProof="0" dirty="0"/>
          </a:p>
        </p:txBody>
      </p:sp>
      <p:sp>
        <p:nvSpPr>
          <p:cNvPr id="17" name="Text 15"/>
          <p:cNvSpPr/>
          <p:nvPr/>
        </p:nvSpPr>
        <p:spPr>
          <a:xfrm>
            <a:off x="1161288" y="4965192"/>
            <a:ext cx="45537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de-DE" sz="1250" noProof="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Bilder liegen in der Cloud – Datenhoheit eingeschränkt</a:t>
            </a:r>
            <a:endParaRPr lang="de-DE" sz="1250" noProof="0" dirty="0"/>
          </a:p>
        </p:txBody>
      </p:sp>
      <p:sp>
        <p:nvSpPr>
          <p:cNvPr id="18" name="Shape 16"/>
          <p:cNvSpPr/>
          <p:nvPr/>
        </p:nvSpPr>
        <p:spPr>
          <a:xfrm>
            <a:off x="6263640" y="1600200"/>
            <a:ext cx="530352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19" name="Shape 17"/>
          <p:cNvSpPr/>
          <p:nvPr/>
        </p:nvSpPr>
        <p:spPr>
          <a:xfrm>
            <a:off x="6263640" y="1600200"/>
            <a:ext cx="5303520" cy="640080"/>
          </a:xfrm>
          <a:prstGeom prst="roundRect">
            <a:avLst>
              <a:gd name="adj" fmla="val 14286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20" name="Text 18"/>
          <p:cNvSpPr/>
          <p:nvPr/>
        </p:nvSpPr>
        <p:spPr>
          <a:xfrm>
            <a:off x="6263640" y="160020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2100" b="1" noProof="0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Label Studio</a:t>
            </a:r>
            <a:endParaRPr lang="de-DE" sz="2100" noProof="0" dirty="0"/>
          </a:p>
        </p:txBody>
      </p:sp>
      <p:sp>
        <p:nvSpPr>
          <p:cNvPr id="21" name="Text 19"/>
          <p:cNvSpPr/>
          <p:nvPr/>
        </p:nvSpPr>
        <p:spPr>
          <a:xfrm>
            <a:off x="6446520" y="23317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300" i="1" noProof="0" dirty="0">
                <a:solidFill>
                  <a:srgbClr val="5A6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· lokal / selbst gehostet</a:t>
            </a:r>
            <a:endParaRPr lang="de-DE" sz="1300" noProof="0" dirty="0"/>
          </a:p>
        </p:txBody>
      </p:sp>
      <p:sp>
        <p:nvSpPr>
          <p:cNvPr id="22" name="Text 20"/>
          <p:cNvSpPr/>
          <p:nvPr/>
        </p:nvSpPr>
        <p:spPr>
          <a:xfrm>
            <a:off x="6492240" y="26974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1600" b="1" noProof="0" dirty="0">
                <a:solidFill>
                  <a:srgbClr val="6E9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de-DE" sz="1600" noProof="0" dirty="0"/>
          </a:p>
        </p:txBody>
      </p:sp>
      <p:sp>
        <p:nvSpPr>
          <p:cNvPr id="23" name="Text 21"/>
          <p:cNvSpPr/>
          <p:nvPr/>
        </p:nvSpPr>
        <p:spPr>
          <a:xfrm>
            <a:off x="6784848" y="2697480"/>
            <a:ext cx="45537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de-DE" sz="1250" noProof="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Kostenlos und Open Source – auch bei viel Material</a:t>
            </a:r>
            <a:endParaRPr lang="de-DE" sz="1250" noProof="0" dirty="0"/>
          </a:p>
        </p:txBody>
      </p:sp>
      <p:sp>
        <p:nvSpPr>
          <p:cNvPr id="24" name="Text 22"/>
          <p:cNvSpPr/>
          <p:nvPr/>
        </p:nvSpPr>
        <p:spPr>
          <a:xfrm>
            <a:off x="6492240" y="326440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1600" b="1" noProof="0" dirty="0">
                <a:solidFill>
                  <a:srgbClr val="6E9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de-DE" sz="1600" noProof="0" dirty="0"/>
          </a:p>
        </p:txBody>
      </p:sp>
      <p:sp>
        <p:nvSpPr>
          <p:cNvPr id="25" name="Text 23"/>
          <p:cNvSpPr/>
          <p:nvPr/>
        </p:nvSpPr>
        <p:spPr>
          <a:xfrm>
            <a:off x="6784848" y="3264408"/>
            <a:ext cx="45537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de-DE" sz="1250" noProof="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 bleiben im Haus (Datenschutz / Datenhoheit)</a:t>
            </a:r>
            <a:endParaRPr lang="de-DE" sz="1250" noProof="0" dirty="0"/>
          </a:p>
        </p:txBody>
      </p:sp>
      <p:sp>
        <p:nvSpPr>
          <p:cNvPr id="26" name="Text 24"/>
          <p:cNvSpPr/>
          <p:nvPr/>
        </p:nvSpPr>
        <p:spPr>
          <a:xfrm>
            <a:off x="6492240" y="383133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1600" b="1" noProof="0" dirty="0">
                <a:solidFill>
                  <a:srgbClr val="6E9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de-DE" sz="1600" noProof="0" dirty="0"/>
          </a:p>
        </p:txBody>
      </p:sp>
      <p:sp>
        <p:nvSpPr>
          <p:cNvPr id="27" name="Text 25"/>
          <p:cNvSpPr/>
          <p:nvPr/>
        </p:nvSpPr>
        <p:spPr>
          <a:xfrm>
            <a:off x="6784848" y="3831336"/>
            <a:ext cx="45537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de-DE" sz="1250" noProof="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Bereits in die SUSPEKT-Webapp integriert (</a:t>
            </a:r>
            <a:r>
              <a:rPr lang="de-DE" sz="1250" noProof="0" dirty="0" err="1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</a:t>
            </a:r>
            <a:r>
              <a:rPr lang="de-DE" sz="1250" noProof="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de-DE" sz="1250" noProof="0" dirty="0"/>
          </a:p>
        </p:txBody>
      </p:sp>
      <p:sp>
        <p:nvSpPr>
          <p:cNvPr id="28" name="Text 26"/>
          <p:cNvSpPr/>
          <p:nvPr/>
        </p:nvSpPr>
        <p:spPr>
          <a:xfrm>
            <a:off x="6492240" y="439826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1600" b="1" noProof="0" dirty="0">
                <a:solidFill>
                  <a:srgbClr val="9C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de-DE" sz="1600" noProof="0" dirty="0"/>
          </a:p>
        </p:txBody>
      </p:sp>
      <p:sp>
        <p:nvSpPr>
          <p:cNvPr id="29" name="Text 27"/>
          <p:cNvSpPr/>
          <p:nvPr/>
        </p:nvSpPr>
        <p:spPr>
          <a:xfrm>
            <a:off x="6784848" y="4398264"/>
            <a:ext cx="45537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de-DE" sz="1250" noProof="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komplexer, etwas steilere Lernkurve</a:t>
            </a:r>
            <a:endParaRPr lang="de-DE" sz="1250" noProof="0" dirty="0"/>
          </a:p>
        </p:txBody>
      </p:sp>
      <p:sp>
        <p:nvSpPr>
          <p:cNvPr id="30" name="Text 28"/>
          <p:cNvSpPr/>
          <p:nvPr/>
        </p:nvSpPr>
        <p:spPr>
          <a:xfrm>
            <a:off x="6492240" y="496519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1600" b="1" noProof="0" dirty="0">
                <a:solidFill>
                  <a:srgbClr val="9C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de-DE" sz="1600" noProof="0" dirty="0"/>
          </a:p>
        </p:txBody>
      </p:sp>
      <p:sp>
        <p:nvSpPr>
          <p:cNvPr id="31" name="Text 29"/>
          <p:cNvSpPr/>
          <p:nvPr/>
        </p:nvSpPr>
        <p:spPr>
          <a:xfrm>
            <a:off x="6784848" y="4965192"/>
            <a:ext cx="45537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de-DE" sz="1250" noProof="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Einrichtung / Hosting nötig (etwas IT-Aufwand)</a:t>
            </a:r>
            <a:endParaRPr lang="de-DE" sz="1250" noProof="0" dirty="0"/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E0AE67D2-64C6-93FD-A720-7A860653FCAE}"/>
              </a:ext>
            </a:extLst>
          </p:cNvPr>
          <p:cNvSpPr txBox="1"/>
          <p:nvPr/>
        </p:nvSpPr>
        <p:spPr>
          <a:xfrm>
            <a:off x="640080" y="6246792"/>
            <a:ext cx="11064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b="1" noProof="0" dirty="0"/>
              <a:t>Tipp! </a:t>
            </a:r>
            <a:r>
              <a:rPr lang="de-DE" sz="1600" noProof="0" dirty="0"/>
              <a:t>Agent-Workflow: https://</a:t>
            </a:r>
            <a:r>
              <a:rPr lang="de-DE" sz="1600" noProof="0" dirty="0" err="1"/>
              <a:t>app.roboflow.com</a:t>
            </a:r>
            <a:r>
              <a:rPr lang="de-DE" sz="1600" noProof="0" dirty="0"/>
              <a:t>/system-180-first-annotation-ii/</a:t>
            </a:r>
            <a:r>
              <a:rPr lang="de-DE" sz="1600" noProof="0" dirty="0" err="1"/>
              <a:t>solutions</a:t>
            </a:r>
            <a:r>
              <a:rPr lang="de-DE" sz="1600" noProof="0" dirty="0"/>
              <a:t>/</a:t>
            </a:r>
            <a:r>
              <a:rPr lang="de-DE" sz="1600" noProof="0" dirty="0" err="1"/>
              <a:t>chat</a:t>
            </a:r>
            <a:r>
              <a:rPr lang="de-DE" sz="1600" noProof="0" dirty="0"/>
              <a:t>/</a:t>
            </a:r>
            <a:r>
              <a:rPr lang="de-DE" sz="1600" noProof="0" dirty="0" err="1"/>
              <a:t>DWqu3yX0gy0qSVrAznTM</a:t>
            </a:r>
            <a:endParaRPr lang="de-DE" sz="16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300" b="1" kern="0" spc="200" noProof="0" dirty="0">
                <a:solidFill>
                  <a:srgbClr val="6E9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EMPFEHLUNG</a:t>
            </a:r>
            <a:endParaRPr lang="de-DE" sz="13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2900" b="1" noProof="0" dirty="0">
                <a:solidFill>
                  <a:srgbClr val="1E2B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Welches Tool wann?</a:t>
            </a:r>
            <a:endParaRPr lang="de-DE" sz="2900" noProof="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0789920" cy="1737360"/>
          </a:xfrm>
          <a:prstGeom prst="roundRect">
            <a:avLst>
              <a:gd name="adj" fmla="val 5263"/>
            </a:avLst>
          </a:prstGeom>
          <a:solidFill>
            <a:srgbClr val="F4F6F0"/>
          </a:solidFill>
          <a:ln w="12700">
            <a:solidFill>
              <a:srgbClr val="6E9B45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3200400" cy="1737360"/>
          </a:xfrm>
          <a:prstGeom prst="roundRect">
            <a:avLst>
              <a:gd name="adj" fmla="val 5263"/>
            </a:avLst>
          </a:prstGeom>
          <a:solidFill>
            <a:srgbClr val="6E9B45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2200" b="1" noProof="0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Roboflow</a:t>
            </a:r>
            <a:endParaRPr lang="de-DE" sz="220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de-DE" sz="12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Schneller Einstieg, kleine Mengen</a:t>
            </a:r>
            <a:endParaRPr lang="de-DE" sz="1250" noProof="0" dirty="0"/>
          </a:p>
        </p:txBody>
      </p:sp>
      <p:sp>
        <p:nvSpPr>
          <p:cNvPr id="8" name="Text 6"/>
          <p:cNvSpPr/>
          <p:nvPr/>
        </p:nvSpPr>
        <p:spPr>
          <a:xfrm>
            <a:off x="4114800" y="2103120"/>
            <a:ext cx="7223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500" noProof="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Wenn es schnell gehen soll, wenig annotiert wird und Nutzer ohne IT-Hintergrund arbeiten – die einfache Oberfläche und Auto-Label sparen Zeit.</a:t>
            </a:r>
            <a:endParaRPr lang="de-DE" sz="1500" noProof="0" dirty="0"/>
          </a:p>
        </p:txBody>
      </p:sp>
      <p:sp>
        <p:nvSpPr>
          <p:cNvPr id="9" name="Shape 7"/>
          <p:cNvSpPr/>
          <p:nvPr/>
        </p:nvSpPr>
        <p:spPr>
          <a:xfrm>
            <a:off x="685800" y="3794760"/>
            <a:ext cx="10789920" cy="1737360"/>
          </a:xfrm>
          <a:prstGeom prst="roundRect">
            <a:avLst>
              <a:gd name="adj" fmla="val 5263"/>
            </a:avLst>
          </a:prstGeom>
          <a:solidFill>
            <a:srgbClr val="F4F6F0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10" name="Shape 8"/>
          <p:cNvSpPr/>
          <p:nvPr/>
        </p:nvSpPr>
        <p:spPr>
          <a:xfrm>
            <a:off x="685800" y="3794760"/>
            <a:ext cx="3200400" cy="1737360"/>
          </a:xfrm>
          <a:prstGeom prst="roundRect">
            <a:avLst>
              <a:gd name="adj" fmla="val 5263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11" name="Text 9"/>
          <p:cNvSpPr/>
          <p:nvPr/>
        </p:nvSpPr>
        <p:spPr>
          <a:xfrm>
            <a:off x="777240" y="41148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2200" b="1" noProof="0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Label Studio</a:t>
            </a:r>
            <a:endParaRPr lang="de-DE" sz="2200" noProof="0" dirty="0"/>
          </a:p>
        </p:txBody>
      </p:sp>
      <p:sp>
        <p:nvSpPr>
          <p:cNvPr id="12" name="Text 10"/>
          <p:cNvSpPr/>
          <p:nvPr/>
        </p:nvSpPr>
        <p:spPr>
          <a:xfrm>
            <a:off x="777240" y="47548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de-DE" sz="12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Dauerbetrieb, Datenhoheit, kostenfrei</a:t>
            </a:r>
            <a:endParaRPr lang="de-DE" sz="1250" noProof="0" dirty="0"/>
          </a:p>
        </p:txBody>
      </p:sp>
      <p:sp>
        <p:nvSpPr>
          <p:cNvPr id="13" name="Text 11"/>
          <p:cNvSpPr/>
          <p:nvPr/>
        </p:nvSpPr>
        <p:spPr>
          <a:xfrm>
            <a:off x="4114800" y="4069080"/>
            <a:ext cx="7223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500" noProof="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Wenn regelmäßig und in größerem Umfang annotiert wird, die Daten im Haus bleiben sollen und die vorhandene SUSPEKT-Integration genutzt wird.</a:t>
            </a:r>
            <a:endParaRPr lang="de-DE" sz="1500" noProof="0" dirty="0"/>
          </a:p>
        </p:txBody>
      </p:sp>
      <p:sp>
        <p:nvSpPr>
          <p:cNvPr id="14" name="Text 12"/>
          <p:cNvSpPr/>
          <p:nvPr/>
        </p:nvSpPr>
        <p:spPr>
          <a:xfrm>
            <a:off x="685800" y="5943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350" i="1" noProof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Egal welches Tool: immer dieselben Klassennamen wie im bestehenden Modell verwenden. Der Rest der Kette bleibt gleich.</a:t>
            </a:r>
            <a:endParaRPr lang="de-DE" sz="135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300" b="1" kern="0" spc="200" noProof="0" dirty="0">
                <a:solidFill>
                  <a:srgbClr val="6E9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3</a:t>
            </a:r>
            <a:endParaRPr lang="de-DE" sz="13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2900" b="1" noProof="0" dirty="0">
                <a:solidFill>
                  <a:srgbClr val="1E2B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Trainieren in Google Colab</a:t>
            </a:r>
            <a:endParaRPr lang="de-DE" sz="2900" noProof="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548640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5" name="Text 3"/>
          <p:cNvSpPr/>
          <p:nvPr/>
        </p:nvSpPr>
        <p:spPr>
          <a:xfrm>
            <a:off x="960120" y="19202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800" b="1" noProof="0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 läuft es ab</a:t>
            </a:r>
            <a:endParaRPr lang="de-DE" sz="1800" noProof="0" dirty="0"/>
          </a:p>
        </p:txBody>
      </p:sp>
      <p:sp>
        <p:nvSpPr>
          <p:cNvPr id="6" name="Text 4"/>
          <p:cNvSpPr/>
          <p:nvPr/>
        </p:nvSpPr>
        <p:spPr>
          <a:xfrm>
            <a:off x="1005840" y="2377440"/>
            <a:ext cx="50292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de-DE" sz="1350" noProof="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Datensatz bereitstellen: aus Roboflow ziehen ODER YOLO-Export aus Label Studio hochladen.</a:t>
            </a:r>
            <a:endParaRPr lang="de-DE" sz="1350" noProof="0" dirty="0"/>
          </a:p>
          <a:p>
            <a:pPr marL="0" indent="0">
              <a:spcAft>
                <a:spcPts val="900"/>
              </a:spcAft>
              <a:buNone/>
            </a:pPr>
            <a:r>
              <a:rPr lang="de-DE" sz="1350" noProof="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Oben GPU aktivieren: Laufzeit → Laufzeittyp → GPU.</a:t>
            </a:r>
            <a:endParaRPr lang="de-DE" sz="1350" noProof="0" dirty="0"/>
          </a:p>
          <a:p>
            <a:pPr marL="0" indent="0">
              <a:spcAft>
                <a:spcPts val="900"/>
              </a:spcAft>
              <a:buNone/>
            </a:pPr>
            <a:r>
              <a:rPr lang="de-DE" sz="1350" noProof="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Zellen der Reihe nach ausführen (Play-Symbol).</a:t>
            </a:r>
            <a:endParaRPr lang="de-DE" sz="1350" noProof="0" dirty="0"/>
          </a:p>
          <a:p>
            <a:pPr marL="0" indent="0">
              <a:spcAft>
                <a:spcPts val="900"/>
              </a:spcAft>
              <a:buNone/>
            </a:pPr>
            <a:r>
              <a:rPr lang="de-DE" sz="1350" noProof="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Training läuft von selbst – Ergebnisse werden angezeigt.</a:t>
            </a:r>
            <a:endParaRPr lang="de-DE" sz="1350" noProof="0" dirty="0"/>
          </a:p>
          <a:p>
            <a:pPr marL="0" indent="0">
              <a:spcAft>
                <a:spcPts val="900"/>
              </a:spcAft>
              <a:buNone/>
            </a:pPr>
            <a:r>
              <a:rPr lang="de-DE" sz="1350" noProof="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Neues Modell als .</a:t>
            </a:r>
            <a:r>
              <a:rPr lang="de-DE" sz="1350" noProof="0" dirty="0" err="1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</a:t>
            </a:r>
            <a:r>
              <a:rPr lang="de-DE" sz="1350" noProof="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 </a:t>
            </a:r>
            <a:r>
              <a:rPr lang="de-DE" sz="1350" noProof="0" dirty="0" err="1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</a:t>
            </a:r>
            <a:r>
              <a:rPr lang="de-DE" sz="1350" noProof="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herunterladen.</a:t>
            </a:r>
            <a:endParaRPr lang="de-DE" sz="1350" noProof="0" dirty="0"/>
          </a:p>
        </p:txBody>
      </p:sp>
      <p:sp>
        <p:nvSpPr>
          <p:cNvPr id="7" name="Shape 5"/>
          <p:cNvSpPr/>
          <p:nvPr/>
        </p:nvSpPr>
        <p:spPr>
          <a:xfrm>
            <a:off x="6446520" y="1737360"/>
            <a:ext cx="5029200" cy="4297680"/>
          </a:xfrm>
          <a:prstGeom prst="roundRect">
            <a:avLst>
              <a:gd name="adj" fmla="val 2128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8" name="Text 6"/>
          <p:cNvSpPr/>
          <p:nvPr/>
        </p:nvSpPr>
        <p:spPr>
          <a:xfrm>
            <a:off x="6720840" y="19659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800" b="1" noProof="0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Beide Wege enden gleich</a:t>
            </a:r>
            <a:endParaRPr lang="de-DE" sz="1800" noProof="0" dirty="0"/>
          </a:p>
        </p:txBody>
      </p:sp>
      <p:sp>
        <p:nvSpPr>
          <p:cNvPr id="9" name="Text 7"/>
          <p:cNvSpPr/>
          <p:nvPr/>
        </p:nvSpPr>
        <p:spPr>
          <a:xfrm>
            <a:off x="6858000" y="2423160"/>
            <a:ext cx="44805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de-DE" sz="1450" noProof="0" dirty="0">
                <a:solidFill>
                  <a:srgbClr val="F4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Roboflow → Dataset per API laden</a:t>
            </a:r>
            <a:endParaRPr lang="de-DE" sz="1450" noProof="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de-DE" sz="1450" noProof="0" dirty="0">
                <a:solidFill>
                  <a:srgbClr val="F4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Studio → als YOLO exportieren, ZIP hochladen</a:t>
            </a:r>
            <a:endParaRPr lang="de-DE" sz="1450" noProof="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de-DE" sz="1450" noProof="0" dirty="0">
                <a:solidFill>
                  <a:srgbClr val="F4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Danach identisches </a:t>
            </a:r>
            <a:r>
              <a:rPr lang="de-DE" sz="1450" noProof="0" dirty="0" err="1">
                <a:solidFill>
                  <a:srgbClr val="F4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Ultralytics</a:t>
            </a:r>
            <a:r>
              <a:rPr lang="de-DE" sz="1450" noProof="0" dirty="0">
                <a:solidFill>
                  <a:srgbClr val="F4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-Training</a:t>
            </a:r>
            <a:endParaRPr lang="de-DE" sz="1450" noProof="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de-DE" sz="1450" noProof="0" dirty="0">
                <a:solidFill>
                  <a:srgbClr val="F4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Kostenlose Google-GPU, nichts installieren</a:t>
            </a:r>
            <a:endParaRPr lang="de-DE" sz="1450" noProof="0" dirty="0"/>
          </a:p>
        </p:txBody>
      </p:sp>
      <p:sp>
        <p:nvSpPr>
          <p:cNvPr id="10" name="Text 8"/>
          <p:cNvSpPr/>
          <p:nvPr/>
        </p:nvSpPr>
        <p:spPr>
          <a:xfrm>
            <a:off x="6720840" y="5486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300" noProof="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Datei: </a:t>
            </a:r>
            <a:r>
              <a:rPr lang="de-DE" sz="1300" noProof="0" dirty="0" err="1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SUSPEKT_YOLO_Training.ipynb</a:t>
            </a:r>
            <a:endParaRPr lang="de-DE" sz="13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300" b="1" kern="0" spc="200" noProof="0" dirty="0">
                <a:solidFill>
                  <a:srgbClr val="6E9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4</a:t>
            </a:r>
            <a:endParaRPr lang="de-DE" sz="13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2900" b="1" noProof="0" dirty="0">
                <a:solidFill>
                  <a:srgbClr val="1E2B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Neues Modell einsetzen</a:t>
            </a:r>
            <a:endParaRPr lang="de-DE" sz="2900" noProof="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5" name="Text 3"/>
          <p:cNvSpPr/>
          <p:nvPr/>
        </p:nvSpPr>
        <p:spPr>
          <a:xfrm>
            <a:off x="68580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2400" b="1" noProof="0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de-DE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1371600" y="1901952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900" b="1" noProof="0" dirty="0" err="1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ONNX</a:t>
            </a:r>
            <a:r>
              <a:rPr lang="de-DE" sz="1900" b="1" noProof="0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auf den Jetson</a:t>
            </a:r>
            <a:endParaRPr lang="de-DE" sz="1900" noProof="0" dirty="0"/>
          </a:p>
        </p:txBody>
      </p:sp>
      <p:sp>
        <p:nvSpPr>
          <p:cNvPr id="7" name="Text 5"/>
          <p:cNvSpPr/>
          <p:nvPr/>
        </p:nvSpPr>
        <p:spPr>
          <a:xfrm>
            <a:off x="1371600" y="232257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500" noProof="0" dirty="0">
                <a:solidFill>
                  <a:srgbClr val="5A6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heruntergeladene </a:t>
            </a:r>
            <a:r>
              <a:rPr lang="de-DE" sz="1500" noProof="0" dirty="0" err="1">
                <a:solidFill>
                  <a:srgbClr val="5A6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best.onnx</a:t>
            </a:r>
            <a:r>
              <a:rPr lang="de-DE" sz="1500" noProof="0" dirty="0">
                <a:solidFill>
                  <a:srgbClr val="5A6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auf den Demonstrator-Rechner (Jetson) kopieren.</a:t>
            </a:r>
            <a:endParaRPr lang="de-DE" sz="1500" noProof="0" dirty="0"/>
          </a:p>
        </p:txBody>
      </p:sp>
      <p:sp>
        <p:nvSpPr>
          <p:cNvPr id="8" name="Shape 6"/>
          <p:cNvSpPr/>
          <p:nvPr/>
        </p:nvSpPr>
        <p:spPr>
          <a:xfrm>
            <a:off x="685800" y="320040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9" name="Text 7"/>
          <p:cNvSpPr/>
          <p:nvPr/>
        </p:nvSpPr>
        <p:spPr>
          <a:xfrm>
            <a:off x="68580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2400" b="1" noProof="0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de-DE" sz="2400" noProof="0" dirty="0"/>
          </a:p>
        </p:txBody>
      </p:sp>
      <p:sp>
        <p:nvSpPr>
          <p:cNvPr id="10" name="Text 8"/>
          <p:cNvSpPr/>
          <p:nvPr/>
        </p:nvSpPr>
        <p:spPr>
          <a:xfrm>
            <a:off x="1371600" y="3182112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900" b="1" noProof="0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 </a:t>
            </a:r>
            <a:r>
              <a:rPr lang="de-DE" sz="1900" b="1" noProof="0" dirty="0" err="1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TensorRT</a:t>
            </a:r>
            <a:r>
              <a:rPr lang="de-DE" sz="1900" b="1" noProof="0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umwandeln</a:t>
            </a:r>
            <a:endParaRPr lang="de-DE" sz="1900" noProof="0" dirty="0"/>
          </a:p>
        </p:txBody>
      </p:sp>
      <p:sp>
        <p:nvSpPr>
          <p:cNvPr id="11" name="Text 9"/>
          <p:cNvSpPr/>
          <p:nvPr/>
        </p:nvSpPr>
        <p:spPr>
          <a:xfrm>
            <a:off x="1371600" y="360273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500" noProof="0" dirty="0">
                <a:solidFill>
                  <a:srgbClr val="5A6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dem vorhandenen Skript in eine .</a:t>
            </a:r>
            <a:r>
              <a:rPr lang="de-DE" sz="1500" noProof="0" dirty="0" err="1">
                <a:solidFill>
                  <a:srgbClr val="5A6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r>
              <a:rPr lang="de-DE" sz="1500" noProof="0" dirty="0">
                <a:solidFill>
                  <a:srgbClr val="5A6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umwandeln (</a:t>
            </a:r>
            <a:r>
              <a:rPr lang="de-DE" sz="1500" noProof="0" dirty="0" err="1">
                <a:solidFill>
                  <a:srgbClr val="5A6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FP16</a:t>
            </a:r>
            <a:r>
              <a:rPr lang="de-DE" sz="1500" noProof="0" dirty="0">
                <a:solidFill>
                  <a:srgbClr val="5A6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– wie die bisherigen Modelle.</a:t>
            </a:r>
            <a:endParaRPr lang="de-DE" sz="1500" noProof="0" dirty="0"/>
          </a:p>
        </p:txBody>
      </p:sp>
      <p:sp>
        <p:nvSpPr>
          <p:cNvPr id="12" name="Shape 10"/>
          <p:cNvSpPr/>
          <p:nvPr/>
        </p:nvSpPr>
        <p:spPr>
          <a:xfrm>
            <a:off x="685800" y="448056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13" name="Text 11"/>
          <p:cNvSpPr/>
          <p:nvPr/>
        </p:nvSpPr>
        <p:spPr>
          <a:xfrm>
            <a:off x="685800" y="4480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2400" b="1" noProof="0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de-DE" sz="2400" noProof="0" dirty="0"/>
          </a:p>
        </p:txBody>
      </p:sp>
      <p:sp>
        <p:nvSpPr>
          <p:cNvPr id="14" name="Text 12"/>
          <p:cNvSpPr/>
          <p:nvPr/>
        </p:nvSpPr>
        <p:spPr>
          <a:xfrm>
            <a:off x="1371600" y="4462272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900" b="1" noProof="0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Tauschen &amp; testen</a:t>
            </a:r>
            <a:endParaRPr lang="de-DE" sz="1900" noProof="0" dirty="0"/>
          </a:p>
        </p:txBody>
      </p:sp>
      <p:sp>
        <p:nvSpPr>
          <p:cNvPr id="15" name="Text 13"/>
          <p:cNvSpPr/>
          <p:nvPr/>
        </p:nvSpPr>
        <p:spPr>
          <a:xfrm>
            <a:off x="1371600" y="488289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500" noProof="0" dirty="0">
                <a:solidFill>
                  <a:srgbClr val="5A6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 Engine gegen die alte tauschen, Demonstrator starten und ein paar Bauteile prüfen.</a:t>
            </a:r>
            <a:endParaRPr lang="de-DE" sz="1500" noProof="0" dirty="0"/>
          </a:p>
        </p:txBody>
      </p:sp>
      <p:sp>
        <p:nvSpPr>
          <p:cNvPr id="16" name="Shape 14"/>
          <p:cNvSpPr/>
          <p:nvPr/>
        </p:nvSpPr>
        <p:spPr>
          <a:xfrm>
            <a:off x="685800" y="5806440"/>
            <a:ext cx="10789920" cy="777240"/>
          </a:xfrm>
          <a:prstGeom prst="roundRect">
            <a:avLst>
              <a:gd name="adj" fmla="val 9412"/>
            </a:avLst>
          </a:prstGeom>
          <a:solidFill>
            <a:srgbClr val="F4F6F0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17" name="Text 15"/>
          <p:cNvSpPr/>
          <p:nvPr/>
        </p:nvSpPr>
        <p:spPr>
          <a:xfrm>
            <a:off x="822960" y="58064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1500" b="1" noProof="0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Format-Kette:   .</a:t>
            </a:r>
            <a:r>
              <a:rPr lang="de-DE" sz="1500" b="1" noProof="0" dirty="0" err="1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</a:t>
            </a:r>
            <a:r>
              <a:rPr lang="de-DE" sz="1500" b="1" noProof="0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(Training)   →   </a:t>
            </a:r>
            <a:r>
              <a:rPr lang="de-DE" sz="1500" b="1" noProof="0" dirty="0" err="1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ONNX</a:t>
            </a:r>
            <a:r>
              <a:rPr lang="de-DE" sz="1500" b="1" noProof="0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(Austausch)   →   .</a:t>
            </a:r>
            <a:r>
              <a:rPr lang="de-DE" sz="1500" b="1" noProof="0" dirty="0" err="1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</a:t>
            </a:r>
            <a:r>
              <a:rPr lang="de-DE" sz="1500" b="1" noProof="0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(Demonstrator/</a:t>
            </a:r>
            <a:r>
              <a:rPr lang="de-DE" sz="1500" b="1" noProof="0" dirty="0" err="1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TensorRT</a:t>
            </a:r>
            <a:r>
              <a:rPr lang="de-DE" sz="1500" b="1" noProof="0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de-DE" sz="150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300" b="1" kern="0" spc="200" noProof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FAUSTREGELN</a:t>
            </a:r>
            <a:endParaRPr lang="de-DE" sz="13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2900" b="1" noProof="0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Gute Daten schlagen viele Daten</a:t>
            </a:r>
            <a:endParaRPr lang="de-DE" sz="2900" noProof="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5257800" cy="1737360"/>
          </a:xfrm>
          <a:prstGeom prst="roundRect">
            <a:avLst>
              <a:gd name="adj" fmla="val 5263"/>
            </a:avLst>
          </a:prstGeom>
          <a:solidFill>
            <a:srgbClr val="24491F"/>
          </a:solidFill>
          <a:ln w="12700">
            <a:solidFill>
              <a:srgbClr val="6E9B45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5" name="Text 3"/>
          <p:cNvSpPr/>
          <p:nvPr/>
        </p:nvSpPr>
        <p:spPr>
          <a:xfrm>
            <a:off x="1005840" y="21945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800" b="1" noProof="0" dirty="0">
                <a:solidFill>
                  <a:srgbClr val="97BC6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Vielfalt statt Masse</a:t>
            </a:r>
            <a:endParaRPr lang="de-DE" sz="1800" noProof="0" dirty="0"/>
          </a:p>
        </p:txBody>
      </p:sp>
      <p:sp>
        <p:nvSpPr>
          <p:cNvPr id="6" name="Text 4"/>
          <p:cNvSpPr/>
          <p:nvPr/>
        </p:nvSpPr>
        <p:spPr>
          <a:xfrm>
            <a:off x="1005840" y="2679192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de-DE" sz="1400" noProof="0" dirty="0">
                <a:solidFill>
                  <a:srgbClr val="F4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Verschiedene Bauteile, Winkel, Licht und Hintergründe sind wertvoller als 100 fast gleiche Bilder.</a:t>
            </a:r>
            <a:endParaRPr lang="de-DE" sz="1400" noProof="0" dirty="0"/>
          </a:p>
        </p:txBody>
      </p:sp>
      <p:sp>
        <p:nvSpPr>
          <p:cNvPr id="7" name="Shape 5"/>
          <p:cNvSpPr/>
          <p:nvPr/>
        </p:nvSpPr>
        <p:spPr>
          <a:xfrm>
            <a:off x="6263640" y="1965960"/>
            <a:ext cx="5257800" cy="1737360"/>
          </a:xfrm>
          <a:prstGeom prst="roundRect">
            <a:avLst>
              <a:gd name="adj" fmla="val 5263"/>
            </a:avLst>
          </a:prstGeom>
          <a:solidFill>
            <a:srgbClr val="24491F"/>
          </a:solidFill>
          <a:ln w="12700">
            <a:solidFill>
              <a:srgbClr val="6E9B45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8" name="Text 6"/>
          <p:cNvSpPr/>
          <p:nvPr/>
        </p:nvSpPr>
        <p:spPr>
          <a:xfrm>
            <a:off x="6583680" y="21945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800" b="1" noProof="0" dirty="0">
                <a:solidFill>
                  <a:srgbClr val="97BC6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Fehlerfälle sammeln</a:t>
            </a:r>
            <a:endParaRPr lang="de-DE" sz="1800" noProof="0" dirty="0"/>
          </a:p>
        </p:txBody>
      </p:sp>
      <p:sp>
        <p:nvSpPr>
          <p:cNvPr id="9" name="Text 7"/>
          <p:cNvSpPr/>
          <p:nvPr/>
        </p:nvSpPr>
        <p:spPr>
          <a:xfrm>
            <a:off x="6583680" y="2679192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de-DE" sz="1400" noProof="0" dirty="0">
                <a:solidFill>
                  <a:srgbClr val="F4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Gerade Bilder, bei denen das Modell danebenliegt, bringen beim Nachtraining am meisten.</a:t>
            </a:r>
            <a:endParaRPr lang="de-DE" sz="1400" noProof="0" dirty="0"/>
          </a:p>
        </p:txBody>
      </p:sp>
      <p:sp>
        <p:nvSpPr>
          <p:cNvPr id="10" name="Shape 8"/>
          <p:cNvSpPr/>
          <p:nvPr/>
        </p:nvSpPr>
        <p:spPr>
          <a:xfrm>
            <a:off x="685800" y="3931920"/>
            <a:ext cx="5257800" cy="1737360"/>
          </a:xfrm>
          <a:prstGeom prst="roundRect">
            <a:avLst>
              <a:gd name="adj" fmla="val 5263"/>
            </a:avLst>
          </a:prstGeom>
          <a:solidFill>
            <a:srgbClr val="24491F"/>
          </a:solidFill>
          <a:ln w="12700">
            <a:solidFill>
              <a:srgbClr val="6E9B45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11" name="Text 9"/>
          <p:cNvSpPr/>
          <p:nvPr/>
        </p:nvSpPr>
        <p:spPr>
          <a:xfrm>
            <a:off x="1005840" y="41605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800" b="1" noProof="0" dirty="0">
                <a:solidFill>
                  <a:srgbClr val="97BC6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Sauber markieren</a:t>
            </a:r>
            <a:endParaRPr lang="de-DE" sz="1800" noProof="0" dirty="0"/>
          </a:p>
        </p:txBody>
      </p:sp>
      <p:sp>
        <p:nvSpPr>
          <p:cNvPr id="12" name="Text 10"/>
          <p:cNvSpPr/>
          <p:nvPr/>
        </p:nvSpPr>
        <p:spPr>
          <a:xfrm>
            <a:off x="1005840" y="4645152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de-DE" sz="1400" noProof="0" dirty="0">
                <a:solidFill>
                  <a:srgbClr val="F4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Rechtecke eng ums Bauteil, richtige Klasse, nichts vergessen – egal ob Roboflow oder Label Studio.</a:t>
            </a:r>
            <a:endParaRPr lang="de-DE" sz="1400" noProof="0" dirty="0"/>
          </a:p>
        </p:txBody>
      </p:sp>
      <p:sp>
        <p:nvSpPr>
          <p:cNvPr id="13" name="Shape 11"/>
          <p:cNvSpPr/>
          <p:nvPr/>
        </p:nvSpPr>
        <p:spPr>
          <a:xfrm>
            <a:off x="6263640" y="3931920"/>
            <a:ext cx="5257800" cy="1737360"/>
          </a:xfrm>
          <a:prstGeom prst="roundRect">
            <a:avLst>
              <a:gd name="adj" fmla="val 5263"/>
            </a:avLst>
          </a:prstGeom>
          <a:solidFill>
            <a:srgbClr val="24491F"/>
          </a:solidFill>
          <a:ln w="12700">
            <a:solidFill>
              <a:srgbClr val="6E9B45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14" name="Text 12"/>
          <p:cNvSpPr/>
          <p:nvPr/>
        </p:nvSpPr>
        <p:spPr>
          <a:xfrm>
            <a:off x="6583680" y="41605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800" b="1" noProof="0" dirty="0">
                <a:solidFill>
                  <a:srgbClr val="97BC6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Regelmäßig, in kleinen Mengen</a:t>
            </a:r>
            <a:endParaRPr lang="de-DE" sz="1800" noProof="0" dirty="0"/>
          </a:p>
        </p:txBody>
      </p:sp>
      <p:sp>
        <p:nvSpPr>
          <p:cNvPr id="15" name="Text 13"/>
          <p:cNvSpPr/>
          <p:nvPr/>
        </p:nvSpPr>
        <p:spPr>
          <a:xfrm>
            <a:off x="6583680" y="4645152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de-DE" sz="1400" noProof="0" dirty="0">
                <a:solidFill>
                  <a:srgbClr val="F4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Lieber alle paar Wochen etwas nachtrainieren als einmal im Jahr sehr viel.</a:t>
            </a:r>
            <a:endParaRPr lang="de-DE" sz="140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300" b="1" kern="0" spc="200" noProof="0" dirty="0">
                <a:solidFill>
                  <a:srgbClr val="6E9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ZUM MITNEHMEN</a:t>
            </a:r>
            <a:endParaRPr lang="de-DE" sz="13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2900" b="1" noProof="0" dirty="0">
                <a:solidFill>
                  <a:srgbClr val="1E2B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Ablauf-Checkliste</a:t>
            </a:r>
            <a:endParaRPr lang="de-DE" sz="2900" noProof="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10789920" cy="4480560"/>
          </a:xfrm>
          <a:prstGeom prst="roundRect">
            <a:avLst>
              <a:gd name="adj" fmla="val 2041"/>
            </a:avLst>
          </a:prstGeom>
          <a:solidFill>
            <a:srgbClr val="F4F6F0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5" name="Shape 3"/>
          <p:cNvSpPr/>
          <p:nvPr/>
        </p:nvSpPr>
        <p:spPr>
          <a:xfrm>
            <a:off x="1005840" y="2029968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6" name="Text 4"/>
          <p:cNvSpPr/>
          <p:nvPr/>
        </p:nvSpPr>
        <p:spPr>
          <a:xfrm>
            <a:off x="1005840" y="20299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1500" b="1" noProof="0" dirty="0">
                <a:solidFill>
                  <a:srgbClr val="6E9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de-DE" sz="1500" noProof="0" dirty="0"/>
          </a:p>
        </p:txBody>
      </p:sp>
      <p:sp>
        <p:nvSpPr>
          <p:cNvPr id="7" name="Text 5"/>
          <p:cNvSpPr/>
          <p:nvPr/>
        </p:nvSpPr>
        <p:spPr>
          <a:xfrm>
            <a:off x="1508760" y="198424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500" noProof="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Demonstrator: Bauteile auflegen und Bilder per Knopfdruck speichern</a:t>
            </a:r>
            <a:endParaRPr lang="de-DE" sz="1500" noProof="0" dirty="0"/>
          </a:p>
        </p:txBody>
      </p:sp>
      <p:sp>
        <p:nvSpPr>
          <p:cNvPr id="8" name="Shape 6"/>
          <p:cNvSpPr/>
          <p:nvPr/>
        </p:nvSpPr>
        <p:spPr>
          <a:xfrm>
            <a:off x="1005840" y="2551176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9" name="Text 7"/>
          <p:cNvSpPr/>
          <p:nvPr/>
        </p:nvSpPr>
        <p:spPr>
          <a:xfrm>
            <a:off x="1005840" y="255117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1500" b="1" noProof="0" dirty="0">
                <a:solidFill>
                  <a:srgbClr val="6E9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de-DE" sz="1500" noProof="0" dirty="0"/>
          </a:p>
        </p:txBody>
      </p:sp>
      <p:sp>
        <p:nvSpPr>
          <p:cNvPr id="10" name="Text 8"/>
          <p:cNvSpPr/>
          <p:nvPr/>
        </p:nvSpPr>
        <p:spPr>
          <a:xfrm>
            <a:off x="1508760" y="2505456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500" noProof="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Ordner (top/</a:t>
            </a:r>
            <a:r>
              <a:rPr lang="de-DE" sz="1500" noProof="0" dirty="0" err="1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</a:t>
            </a:r>
            <a:r>
              <a:rPr lang="de-DE" sz="1500" noProof="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de-DE" sz="1500" noProof="0" dirty="0" err="1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</a:t>
            </a:r>
            <a:r>
              <a:rPr lang="de-DE" sz="1500" noProof="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de-DE" sz="1500" noProof="0" dirty="0" err="1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r>
              <a:rPr lang="de-DE" sz="1500" noProof="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sammeln</a:t>
            </a:r>
            <a:endParaRPr lang="de-DE" sz="1500" noProof="0" dirty="0"/>
          </a:p>
        </p:txBody>
      </p:sp>
      <p:sp>
        <p:nvSpPr>
          <p:cNvPr id="11" name="Shape 9"/>
          <p:cNvSpPr/>
          <p:nvPr/>
        </p:nvSpPr>
        <p:spPr>
          <a:xfrm>
            <a:off x="1005840" y="3072384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12" name="Text 10"/>
          <p:cNvSpPr/>
          <p:nvPr/>
        </p:nvSpPr>
        <p:spPr>
          <a:xfrm>
            <a:off x="1005840" y="307238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1500" b="1" noProof="0" dirty="0">
                <a:solidFill>
                  <a:srgbClr val="6E9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de-DE" sz="1500" noProof="0" dirty="0"/>
          </a:p>
        </p:txBody>
      </p:sp>
      <p:sp>
        <p:nvSpPr>
          <p:cNvPr id="13" name="Text 11"/>
          <p:cNvSpPr/>
          <p:nvPr/>
        </p:nvSpPr>
        <p:spPr>
          <a:xfrm>
            <a:off x="1508760" y="3026664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500" noProof="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Tool wählen: Roboflow (einfach) oder Label Studio (kostenlos, im Haus)</a:t>
            </a:r>
            <a:endParaRPr lang="de-DE" sz="1500" noProof="0" dirty="0"/>
          </a:p>
        </p:txBody>
      </p:sp>
      <p:sp>
        <p:nvSpPr>
          <p:cNvPr id="14" name="Shape 12"/>
          <p:cNvSpPr/>
          <p:nvPr/>
        </p:nvSpPr>
        <p:spPr>
          <a:xfrm>
            <a:off x="1005840" y="3593592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15" name="Text 13"/>
          <p:cNvSpPr/>
          <p:nvPr/>
        </p:nvSpPr>
        <p:spPr>
          <a:xfrm>
            <a:off x="1005840" y="35935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1500" b="1" noProof="0" dirty="0">
                <a:solidFill>
                  <a:srgbClr val="6E9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de-DE" sz="1500" noProof="0" dirty="0"/>
          </a:p>
        </p:txBody>
      </p:sp>
      <p:sp>
        <p:nvSpPr>
          <p:cNvPr id="16" name="Text 14"/>
          <p:cNvSpPr/>
          <p:nvPr/>
        </p:nvSpPr>
        <p:spPr>
          <a:xfrm>
            <a:off x="1508760" y="3547872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500" noProof="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Annotieren: Boxen + immer gleiche Klassennamen</a:t>
            </a:r>
            <a:endParaRPr lang="de-DE" sz="1500" noProof="0" dirty="0"/>
          </a:p>
        </p:txBody>
      </p:sp>
      <p:sp>
        <p:nvSpPr>
          <p:cNvPr id="17" name="Shape 15"/>
          <p:cNvSpPr/>
          <p:nvPr/>
        </p:nvSpPr>
        <p:spPr>
          <a:xfrm>
            <a:off x="1005840" y="411480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18" name="Text 16"/>
          <p:cNvSpPr/>
          <p:nvPr/>
        </p:nvSpPr>
        <p:spPr>
          <a:xfrm>
            <a:off x="1005840" y="4114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1500" b="1" noProof="0" dirty="0">
                <a:solidFill>
                  <a:srgbClr val="6E9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de-DE" sz="1500" noProof="0" dirty="0"/>
          </a:p>
        </p:txBody>
      </p:sp>
      <p:sp>
        <p:nvSpPr>
          <p:cNvPr id="19" name="Text 17"/>
          <p:cNvSpPr/>
          <p:nvPr/>
        </p:nvSpPr>
        <p:spPr>
          <a:xfrm>
            <a:off x="1508760" y="40690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500" noProof="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Datensatz als YOLO-Format bereitstellen</a:t>
            </a:r>
            <a:endParaRPr lang="de-DE" sz="1500" noProof="0" dirty="0"/>
          </a:p>
        </p:txBody>
      </p:sp>
      <p:sp>
        <p:nvSpPr>
          <p:cNvPr id="20" name="Shape 18"/>
          <p:cNvSpPr/>
          <p:nvPr/>
        </p:nvSpPr>
        <p:spPr>
          <a:xfrm>
            <a:off x="1005840" y="4636008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21" name="Text 19"/>
          <p:cNvSpPr/>
          <p:nvPr/>
        </p:nvSpPr>
        <p:spPr>
          <a:xfrm>
            <a:off x="1005840" y="46360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1500" b="1" noProof="0" dirty="0">
                <a:solidFill>
                  <a:srgbClr val="6E9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de-DE" sz="1500" noProof="0" dirty="0"/>
          </a:p>
        </p:txBody>
      </p:sp>
      <p:sp>
        <p:nvSpPr>
          <p:cNvPr id="22" name="Text 20"/>
          <p:cNvSpPr/>
          <p:nvPr/>
        </p:nvSpPr>
        <p:spPr>
          <a:xfrm>
            <a:off x="1508760" y="459028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500" noProof="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Colab öffnen, GPU aktivieren, Datensatz laden, Zellen ausführen</a:t>
            </a:r>
            <a:endParaRPr lang="de-DE" sz="1500" noProof="0" dirty="0"/>
          </a:p>
        </p:txBody>
      </p:sp>
      <p:sp>
        <p:nvSpPr>
          <p:cNvPr id="23" name="Shape 21"/>
          <p:cNvSpPr/>
          <p:nvPr/>
        </p:nvSpPr>
        <p:spPr>
          <a:xfrm>
            <a:off x="1005840" y="5157216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24" name="Text 22"/>
          <p:cNvSpPr/>
          <p:nvPr/>
        </p:nvSpPr>
        <p:spPr>
          <a:xfrm>
            <a:off x="1005840" y="51572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1500" b="1" noProof="0" dirty="0">
                <a:solidFill>
                  <a:srgbClr val="6E9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de-DE" sz="1500" noProof="0" dirty="0"/>
          </a:p>
        </p:txBody>
      </p:sp>
      <p:sp>
        <p:nvSpPr>
          <p:cNvPr id="25" name="Text 23"/>
          <p:cNvSpPr/>
          <p:nvPr/>
        </p:nvSpPr>
        <p:spPr>
          <a:xfrm>
            <a:off x="1508760" y="5111496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500" noProof="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</a:t>
            </a:r>
            <a:r>
              <a:rPr lang="de-DE" sz="1500" noProof="0" dirty="0" err="1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best.pt</a:t>
            </a:r>
            <a:r>
              <a:rPr lang="de-DE" sz="1500" noProof="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 </a:t>
            </a:r>
            <a:r>
              <a:rPr lang="de-DE" sz="1500" noProof="0" dirty="0" err="1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best.onnx</a:t>
            </a:r>
            <a:r>
              <a:rPr lang="de-DE" sz="1500" noProof="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herunterladen</a:t>
            </a:r>
            <a:endParaRPr lang="de-DE" sz="1500" noProof="0" dirty="0"/>
          </a:p>
        </p:txBody>
      </p:sp>
      <p:sp>
        <p:nvSpPr>
          <p:cNvPr id="26" name="Shape 24"/>
          <p:cNvSpPr/>
          <p:nvPr/>
        </p:nvSpPr>
        <p:spPr>
          <a:xfrm>
            <a:off x="1005840" y="5678424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27" name="Text 25"/>
          <p:cNvSpPr/>
          <p:nvPr/>
        </p:nvSpPr>
        <p:spPr>
          <a:xfrm>
            <a:off x="1005840" y="567842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1500" b="1" noProof="0" dirty="0">
                <a:solidFill>
                  <a:srgbClr val="6E9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de-DE" sz="1500" noProof="0" dirty="0"/>
          </a:p>
        </p:txBody>
      </p:sp>
      <p:sp>
        <p:nvSpPr>
          <p:cNvPr id="28" name="Text 26"/>
          <p:cNvSpPr/>
          <p:nvPr/>
        </p:nvSpPr>
        <p:spPr>
          <a:xfrm>
            <a:off x="1508760" y="5632704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500" noProof="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</a:t>
            </a:r>
            <a:r>
              <a:rPr lang="de-DE" sz="1500" noProof="0" dirty="0" err="1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</a:t>
            </a:r>
            <a:r>
              <a:rPr lang="de-DE" sz="1500" noProof="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auf Jetson → </a:t>
            </a:r>
            <a:r>
              <a:rPr lang="de-DE" sz="1500" noProof="0" dirty="0" err="1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TensorRT</a:t>
            </a:r>
            <a:r>
              <a:rPr lang="de-DE" sz="1500" noProof="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-Engine → tauschen und testen</a:t>
            </a:r>
            <a:endParaRPr lang="de-DE" sz="1500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66946B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4000" b="1" noProof="0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Viel Erfolg beim Trainieren!</a:t>
            </a:r>
            <a:endParaRPr lang="de-DE" sz="4000" noProof="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800" noProof="0" dirty="0">
                <a:solidFill>
                  <a:srgbClr val="F4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Werkzeug wählen, sauber annotieren, in Colab trainieren – mit jedem Durchlauf wird das Modell besser.</a:t>
            </a:r>
            <a:endParaRPr lang="de-DE" sz="1800" noProof="0" dirty="0"/>
          </a:p>
        </p:txBody>
      </p:sp>
      <p:sp>
        <p:nvSpPr>
          <p:cNvPr id="5" name="Text 3"/>
          <p:cNvSpPr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500" i="1" noProof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Begleitunterlagen:  Handout (Schritt-für-Schritt) · Colab-Notebook · Button-Code</a:t>
            </a:r>
            <a:endParaRPr lang="de-DE" sz="1500" noProof="0" dirty="0"/>
          </a:p>
        </p:txBody>
      </p:sp>
      <p:sp>
        <p:nvSpPr>
          <p:cNvPr id="6" name="Text 4"/>
          <p:cNvSpPr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300" noProof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Green-AI Hub Mittelstand · System 180 GmbH · DFKI</a:t>
            </a:r>
            <a:endParaRPr lang="de-DE" sz="1300" noProof="0" dirty="0"/>
          </a:p>
        </p:txBody>
      </p:sp>
      <p:pic>
        <p:nvPicPr>
          <p:cNvPr id="8" name="Grafik 7" descr="Green-AI Hub Mittelstand">
            <a:extLst>
              <a:ext uri="{FF2B5EF4-FFF2-40B4-BE49-F238E27FC236}">
                <a16:creationId xmlns:a16="http://schemas.microsoft.com/office/drawing/2014/main" id="{970C322B-12BF-47EF-B7C1-4ED0C7D3C3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33648" y="288490"/>
            <a:ext cx="2788024" cy="8677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26E3B26A1880943B224DC8C859DA97B" ma:contentTypeVersion="14" ma:contentTypeDescription="Ein neues Dokument erstellen." ma:contentTypeScope="" ma:versionID="ee43972ce251d29e8e35f411198ddb36">
  <xsd:schema xmlns:xsd="http://www.w3.org/2001/XMLSchema" xmlns:xs="http://www.w3.org/2001/XMLSchema" xmlns:p="http://schemas.microsoft.com/office/2006/metadata/properties" xmlns:ns2="1623be12-241d-4b10-974e-d1d2e0118133" xmlns:ns3="94b4c491-19e0-4b20-976c-641e2c697767" targetNamespace="http://schemas.microsoft.com/office/2006/metadata/properties" ma:root="true" ma:fieldsID="7794b871d1747cd03cc121666b1b5d16" ns2:_="" ns3:_="">
    <xsd:import namespace="1623be12-241d-4b10-974e-d1d2e0118133"/>
    <xsd:import namespace="94b4c491-19e0-4b20-976c-641e2c6977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LengthInSecond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23be12-241d-4b10-974e-d1d2e011813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Bildmarkierungen" ma:readOnly="false" ma:fieldId="{5cf76f15-5ced-4ddc-b409-7134ff3c332f}" ma:taxonomyMulti="true" ma:sspId="da225b3d-652b-4f82-9d24-d244b1ab6c8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b4c491-19e0-4b20-976c-641e2c697767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402e9c9b-e7e8-4201-9ad0-91951772aeb2}" ma:internalName="TaxCatchAll" ma:showField="CatchAllData" ma:web="94b4c491-19e0-4b20-976c-641e2c69776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623be12-241d-4b10-974e-d1d2e0118133">
      <Terms xmlns="http://schemas.microsoft.com/office/infopath/2007/PartnerControls"/>
    </lcf76f155ced4ddcb4097134ff3c332f>
    <TaxCatchAll xmlns="94b4c491-19e0-4b20-976c-641e2c69776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9139D24-1235-4A2A-BED5-79EE450F4D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623be12-241d-4b10-974e-d1d2e0118133"/>
    <ds:schemaRef ds:uri="94b4c491-19e0-4b20-976c-641e2c69776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B94ABB5-2ACC-4E6F-BAFE-1551CD5AA373}">
  <ds:schemaRefs>
    <ds:schemaRef ds:uri="http://schemas.microsoft.com/office/2006/metadata/properties"/>
    <ds:schemaRef ds:uri="http://schemas.microsoft.com/office/infopath/2007/PartnerControls"/>
    <ds:schemaRef ds:uri="1623be12-241d-4b10-974e-d1d2e0118133"/>
    <ds:schemaRef ds:uri="94b4c491-19e0-4b20-976c-641e2c697767"/>
  </ds:schemaRefs>
</ds:datastoreItem>
</file>

<file path=customXml/itemProps3.xml><?xml version="1.0" encoding="utf-8"?>
<ds:datastoreItem xmlns:ds="http://schemas.openxmlformats.org/officeDocument/2006/customXml" ds:itemID="{A39DEB98-CFBA-4F2B-A3D6-B5F35B80212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988</Words>
  <Application>Microsoft Office PowerPoint</Application>
  <PresentationFormat>Breitbild</PresentationFormat>
  <Paragraphs>170</Paragraphs>
  <Slides>12</Slides>
  <Notes>12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7" baseType="lpstr">
      <vt:lpstr>Arial</vt:lpstr>
      <vt:lpstr>Calibri</vt:lpstr>
      <vt:lpstr>Century Schoolbook</vt:lpstr>
      <vt:lpstr>Courier New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Jonas Brozeit</cp:lastModifiedBy>
  <cp:revision>1</cp:revision>
  <dcterms:created xsi:type="dcterms:W3CDTF">2026-07-10T08:36:52Z</dcterms:created>
  <dcterms:modified xsi:type="dcterms:W3CDTF">2026-07-10T09:53:16Z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0x010100726E3B26A1880943B224DC8C859DA97B</vt:lpwstr>
  </property>
  <property fmtid="{D5CDD505-2E9C-101B-9397-08002B2CF9AE}" pid="3" name="MediaServiceImageTags">
    <vt:lpwstr/>
  </property>
</Properties>
</file>